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professors. In this Review 2, we upgraded the MOPSO-FFNN-AD framework for Software-Defined Wireless Networks. In our previous review, the model was tested on synthetic data. For Review 2, we moved to two real-world PCAP benchmarks -- ISCX VPN and USTC-TFC -- added deep learning baselines, proved our results with 10-fold cross-validation, and performed policy ablation and feature importance analysis.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clearly show our novelty, we compare our work against two prior benchmarks: Paper A, the original single-objective PSO paper that only maximized accuracy, and Paper B, our senior's code which introduced multi-objective PSO on synthetic data. Our system, System C, upgrades the entire pipeline with real PCAP datasets, deep learning baselines, 10-fold statistical testing, and dynamic policy ablation.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flowchart illustrates our complete pipeline. We stream raw packet captures, extract 8 standard flow features, and normalize them strictly inside training folds to prevent data leakage. Our MOPSO optimizer trains the neural network to balance accuracy against switch overhead, while a Page-Hinkley drift detector watches for traffic changes. The resulting model deploys onto OpenFlow SDN controllers for microsecond inference.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show the duration characteristics of the two real PCAP datasets on a log scale. Both datasets contain exactly 600 flows per class to match our senior's 3,000-sample benchmark without class imbalance. You can clearly see that malware botnets in USTC stay alive 10,000 times longer than benign traffic to maintain attack connections, and VPN encrypted tunnels in ISCX persist for up to an hour.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ensure theoretical rigor, we proved two mathematical stability lemmas. In Lemma 1, the eigenvalues of the swarm transition matrix have a spectral radius of 0.8543, which lies strictly inside the complex unit circle shown in the left plot. In Lemma 2, particle variance exponentially decays to zero as shown in the right plot. For an SDN network, this mathematically guarantees that weights will never explode or cause switch flow-table thrashing.</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our 10-fold cross-validation bar charts with standard deviation error bars. We conducted paired two-tailed t-tests against the base paper PSO model. On both datasets, the p-values are 0.0028 and 0.0030, which are well below 0.01. This proves that MOPSO's multi-objective compromise is statistically genuine and not a product of random sampling.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compare our model against modern deep learning baselines. As shown in the left chart, Transformer and LSTM require between 13,000 and 18,400 parameters -- up to 56 times larger than our 325-parameter FFNN. While deep learning achieves 78% accuracy, it cannot adapt to drift and requires heavy GPU compute. Our compact model runs in microseconds on simple CPU switches and handles drift dynamically.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 real network, operating conditions change. When the network is congested, we switch to the Bandwidth-Constrained policy to minimize OpenFlow message overhead. When latency is critical, we switch to the Latency-Sensitive policy, which cuts composite overhead almost in half to 0.36. The left chart shows the size of the Pareto menu MOPSO discovers for each policy.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tested which features are truly essential by shuffling one feature column at a time and observing the performance drop. On USTC malware, TTL is the most important feature because botnets are hosted on distant internet servers. On ISCX encrypted traffic, packet inter-arrival time is number one because human messaging has long pauses while video streaming has rapid bursts. Destination port had near-zero importance because almost everything multiplexes over port 443.</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5-axis radar chart summarizes why our approach is better suited for real SDN networks than deep learning. While deep learning scores high on raw accuracy, our MOPSO framework scores 9/10 or 10/10 across switch memory efficiency, microsecond inference speed, drift recovery, and multi-objective adaptability, while fully respecting user privacy under TLS 1.3 and QUIC encryption.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when traffic patterns change, our Page-Hinkley detector alerts the controller within 150 flows and warm-restarts the swarm to re-converge in under 2.5 seconds. All 8 Review-2 instructions have been completed, verified on real PCAPs, and packaged with 13 out of 13 passing unit tests. Thank you, and we welcome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1B3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160520"/>
            <a:ext cx="12191695" cy="50800"/>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103120"/>
            <a:ext cx="10698480" cy="1737360"/>
          </a:xfrm>
          <a:prstGeom prst="rect">
            <a:avLst/>
          </a:prstGeom>
          <a:noFill/>
        </p:spPr>
        <p:txBody>
          <a:bodyPr wrap="square">
            <a:spAutoFit/>
          </a:bodyPr>
          <a:lstStyle/>
          <a:p>
            <a:pPr algn="ctr">
              <a:defRPr sz="3000" b="1" i="0">
                <a:solidFill>
                  <a:srgbClr val="FFFFFF"/>
                </a:solidFill>
              </a:defRPr>
            </a:pPr>
            <a:r>
              <a:t>Multi-Objective Adaptive Traffic Classification in</a:t>
            </a:r>
            <a:br/>
            <a:r>
              <a:t>Software-Defined Wireless Networks (MOPSO-FFNN-AD)</a:t>
            </a:r>
          </a:p>
        </p:txBody>
      </p:sp>
      <p:sp>
        <p:nvSpPr>
          <p:cNvPr id="6" name="TextBox 5"/>
          <p:cNvSpPr txBox="1"/>
          <p:nvPr/>
        </p:nvSpPr>
        <p:spPr>
          <a:xfrm>
            <a:off x="731520" y="4343400"/>
            <a:ext cx="10698480" cy="548640"/>
          </a:xfrm>
          <a:prstGeom prst="rect">
            <a:avLst/>
          </a:prstGeom>
          <a:noFill/>
        </p:spPr>
        <p:txBody>
          <a:bodyPr wrap="square">
            <a:spAutoFit/>
          </a:bodyPr>
          <a:lstStyle/>
          <a:p>
            <a:pPr algn="ctr">
              <a:defRPr sz="1800" b="0" i="0">
                <a:solidFill>
                  <a:srgbClr val="C9D6E6"/>
                </a:solidFill>
              </a:defRPr>
            </a:pPr>
            <a:r>
              <a:t>Review 2: Transition to Real-World Benchmarks, DL Baselines &amp; Statistical Validation</a:t>
            </a:r>
          </a:p>
        </p:txBody>
      </p:sp>
      <p:sp>
        <p:nvSpPr>
          <p:cNvPr id="7" name="TextBox 6"/>
          <p:cNvSpPr txBox="1"/>
          <p:nvPr/>
        </p:nvSpPr>
        <p:spPr>
          <a:xfrm>
            <a:off x="731520" y="4983480"/>
            <a:ext cx="10698480" cy="457200"/>
          </a:xfrm>
          <a:prstGeom prst="rect">
            <a:avLst/>
          </a:prstGeom>
          <a:noFill/>
        </p:spPr>
        <p:txBody>
          <a:bodyPr wrap="square">
            <a:spAutoFit/>
          </a:bodyPr>
          <a:lstStyle/>
          <a:p>
            <a:pPr algn="ctr">
              <a:defRPr sz="1500" b="0" i="0">
                <a:solidFill>
                  <a:srgbClr val="FFFFFF"/>
                </a:solidFill>
              </a:defRPr>
            </a:pPr>
            <a:r>
              <a:t>Budithi Supraja (25MAI0030)  |  School of Computer Science &amp; Engineering</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1B3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515600" cy="594360"/>
          </a:xfrm>
          <a:prstGeom prst="rect">
            <a:avLst/>
          </a:prstGeom>
          <a:noFill/>
        </p:spPr>
        <p:txBody>
          <a:bodyPr wrap="none">
            <a:spAutoFit/>
          </a:bodyPr>
          <a:lstStyle/>
          <a:p>
            <a:pPr>
              <a:defRPr sz="2600" b="1">
                <a:solidFill>
                  <a:srgbClr val="FFFFFF"/>
                </a:solidFill>
                <a:latin typeface="Calibri"/>
              </a:defRPr>
            </a:pPr>
            <a:r>
              <a:t>The Three-Tier Comparative Architecture (A vs B vs C)</a:t>
            </a:r>
          </a:p>
        </p:txBody>
      </p:sp>
      <p:sp>
        <p:nvSpPr>
          <p:cNvPr id="5" name="TextBox 4"/>
          <p:cNvSpPr txBox="1"/>
          <p:nvPr/>
        </p:nvSpPr>
        <p:spPr>
          <a:xfrm>
            <a:off x="457200" y="621792"/>
            <a:ext cx="10515600" cy="274320"/>
          </a:xfrm>
          <a:prstGeom prst="rect">
            <a:avLst/>
          </a:prstGeom>
          <a:noFill/>
        </p:spPr>
        <p:txBody>
          <a:bodyPr wrap="none">
            <a:spAutoFit/>
          </a:bodyPr>
          <a:lstStyle/>
          <a:p>
            <a:pPr>
              <a:defRPr sz="1300">
                <a:solidFill>
                  <a:srgbClr val="C9D6E6"/>
                </a:solidFill>
              </a:defRPr>
            </a:pPr>
            <a:r>
              <a:t>Slide 2 of 11</a:t>
            </a:r>
          </a:p>
        </p:txBody>
      </p:sp>
      <p:sp>
        <p:nvSpPr>
          <p:cNvPr id="6" name="Rectangle 5"/>
          <p:cNvSpPr/>
          <p:nvPr/>
        </p:nvSpPr>
        <p:spPr>
          <a:xfrm>
            <a:off x="0" y="960120"/>
            <a:ext cx="12191695" cy="50800"/>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365760" y="1188720"/>
          <a:ext cx="11429998" cy="5120640"/>
        </p:xfrm>
        <a:graphic>
          <a:graphicData uri="http://schemas.openxmlformats.org/drawingml/2006/table">
            <a:tbl>
              <a:tblPr firstRow="1" bandRow="1">
                <a:tableStyleId>{5C22544A-7EE6-4342-B048-85BDC9FD1C3A}</a:tableStyleId>
              </a:tblPr>
              <a:tblGrid>
                <a:gridCol w="2241176"/>
                <a:gridCol w="2913529"/>
                <a:gridCol w="2913529"/>
                <a:gridCol w="3361764"/>
              </a:tblGrid>
              <a:tr h="731520">
                <a:tc>
                  <a:txBody>
                    <a:bodyPr/>
                    <a:lstStyle/>
                    <a:p>
                      <a:pPr algn="l"/>
                      <a:r>
                        <a:rPr sz="1200" b="1">
                          <a:solidFill>
                            <a:srgbClr val="FFFFFF"/>
                          </a:solidFill>
                          <a:latin typeface="Calibri"/>
                        </a:rPr>
                        <a:t>Dimension</a:t>
                      </a:r>
                    </a:p>
                  </a:txBody>
                  <a:tcPr marL="54864" marR="54864" marT="18288" marB="18288" anchor="ctr">
                    <a:solidFill>
                      <a:srgbClr val="1B365D"/>
                    </a:solidFill>
                  </a:tcPr>
                </a:tc>
                <a:tc>
                  <a:txBody>
                    <a:bodyPr/>
                    <a:lstStyle/>
                    <a:p>
                      <a:pPr algn="ctr"/>
                      <a:r>
                        <a:rPr sz="1200" b="1">
                          <a:solidFill>
                            <a:srgbClr val="FFFFFF"/>
                          </a:solidFill>
                          <a:latin typeface="Calibri"/>
                        </a:rPr>
                        <a:t>A: Base Paper</a:t>
                      </a:r>
                    </a:p>
                    <a:p>
                      <a:pPr algn="ctr"/>
                      <a:r>
                        <a:rPr sz="1200" b="1">
                          <a:solidFill>
                            <a:srgbClr val="FFFFFF"/>
                          </a:solidFill>
                          <a:latin typeface="Calibri"/>
                        </a:rPr>
                        <a:t>(Pradhan et al. 2022)</a:t>
                      </a:r>
                    </a:p>
                  </a:txBody>
                  <a:tcPr marL="54864" marR="54864" marT="18288" marB="18288" anchor="ctr">
                    <a:solidFill>
                      <a:srgbClr val="1B365D"/>
                    </a:solidFill>
                  </a:tcPr>
                </a:tc>
                <a:tc>
                  <a:txBody>
                    <a:bodyPr/>
                    <a:lstStyle/>
                    <a:p>
                      <a:pPr algn="ctr"/>
                      <a:r>
                        <a:rPr sz="1200" b="1">
                          <a:solidFill>
                            <a:srgbClr val="FFFFFF"/>
                          </a:solidFill>
                          <a:latin typeface="Calibri"/>
                        </a:rPr>
                        <a:t>B: Senior's Baseline</a:t>
                      </a:r>
                    </a:p>
                    <a:p>
                      <a:pPr algn="ctr"/>
                      <a:r>
                        <a:rPr sz="1200" b="1">
                          <a:solidFill>
                            <a:srgbClr val="FFFFFF"/>
                          </a:solidFill>
                          <a:latin typeface="Calibri"/>
                        </a:rPr>
                        <a:t>(Budithi 2024)</a:t>
                      </a:r>
                    </a:p>
                  </a:txBody>
                  <a:tcPr marL="54864" marR="54864" marT="18288" marB="18288" anchor="ctr">
                    <a:solidFill>
                      <a:srgbClr val="1B365D"/>
                    </a:solidFill>
                  </a:tcPr>
                </a:tc>
                <a:tc>
                  <a:txBody>
                    <a:bodyPr/>
                    <a:lstStyle/>
                    <a:p>
                      <a:pPr algn="ctr"/>
                      <a:r>
                        <a:rPr sz="1200" b="1">
                          <a:solidFill>
                            <a:srgbClr val="FFFFFF"/>
                          </a:solidFill>
                          <a:latin typeface="Calibri"/>
                        </a:rPr>
                        <a:t>C: Upgraded System</a:t>
                      </a:r>
                    </a:p>
                    <a:p>
                      <a:pPr algn="ctr"/>
                      <a:r>
                        <a:rPr sz="1200" b="1">
                          <a:solidFill>
                            <a:srgbClr val="FFFFFF"/>
                          </a:solidFill>
                          <a:latin typeface="Calibri"/>
                        </a:rPr>
                        <a:t>(Ours - Review 2)</a:t>
                      </a:r>
                    </a:p>
                  </a:txBody>
                  <a:tcPr marL="54864" marR="54864" marT="18288" marB="18288" anchor="ctr">
                    <a:solidFill>
                      <a:srgbClr val="1B365D"/>
                    </a:solidFill>
                  </a:tcPr>
                </a:tc>
              </a:tr>
              <a:tr h="731520">
                <a:tc>
                  <a:txBody>
                    <a:bodyPr/>
                    <a:lstStyle/>
                    <a:p>
                      <a:pPr algn="l"/>
                      <a:r>
                        <a:rPr sz="1100" b="0">
                          <a:solidFill>
                            <a:srgbClr val="222222"/>
                          </a:solidFill>
                          <a:latin typeface="Calibri"/>
                        </a:rPr>
                        <a:t>Optimization Target</a:t>
                      </a:r>
                    </a:p>
                  </a:txBody>
                  <a:tcPr marL="54864" marR="54864" marT="18288" marB="18288" anchor="ctr">
                    <a:solidFill>
                      <a:srgbClr val="FFFFFF"/>
                    </a:solidFill>
                  </a:tcPr>
                </a:tc>
                <a:tc>
                  <a:txBody>
                    <a:bodyPr/>
                    <a:lstStyle/>
                    <a:p>
                      <a:pPr algn="ctr"/>
                      <a:r>
                        <a:rPr sz="1100" b="0">
                          <a:solidFill>
                            <a:srgbClr val="222222"/>
                          </a:solidFill>
                          <a:latin typeface="Calibri"/>
                        </a:rPr>
                        <a:t>Single-Objective:</a:t>
                      </a:r>
                    </a:p>
                    <a:p>
                      <a:pPr algn="ctr"/>
                      <a:r>
                        <a:rPr sz="1100" b="0">
                          <a:solidFill>
                            <a:srgbClr val="222222"/>
                          </a:solidFill>
                          <a:latin typeface="Calibri"/>
                        </a:rPr>
                        <a:t>Accuracy only</a:t>
                      </a:r>
                    </a:p>
                  </a:txBody>
                  <a:tcPr marL="54864" marR="54864" marT="18288" marB="18288" anchor="ctr">
                    <a:solidFill>
                      <a:srgbClr val="FFFFFF"/>
                    </a:solidFill>
                  </a:tcPr>
                </a:tc>
                <a:tc>
                  <a:txBody>
                    <a:bodyPr/>
                    <a:lstStyle/>
                    <a:p>
                      <a:pPr algn="ctr"/>
                      <a:r>
                        <a:rPr sz="1100" b="0">
                          <a:solidFill>
                            <a:srgbClr val="222222"/>
                          </a:solidFill>
                          <a:latin typeface="Calibri"/>
                        </a:rPr>
                        <a:t>Bi-Objective:</a:t>
                      </a:r>
                    </a:p>
                    <a:p>
                      <a:pPr algn="ctr"/>
                      <a:r>
                        <a:rPr sz="1100" b="0">
                          <a:solidFill>
                            <a:srgbClr val="222222"/>
                          </a:solidFill>
                          <a:latin typeface="Calibri"/>
                        </a:rPr>
                        <a:t>Accuracy &amp; Overhead F</a:t>
                      </a:r>
                    </a:p>
                  </a:txBody>
                  <a:tcPr marL="54864" marR="54864" marT="18288" marB="18288" anchor="ctr">
                    <a:solidFill>
                      <a:srgbClr val="FFFFFF"/>
                    </a:solidFill>
                  </a:tcPr>
                </a:tc>
                <a:tc>
                  <a:txBody>
                    <a:bodyPr/>
                    <a:lstStyle/>
                    <a:p>
                      <a:pPr algn="ctr"/>
                      <a:r>
                        <a:rPr sz="1100" b="0">
                          <a:solidFill>
                            <a:srgbClr val="222222"/>
                          </a:solidFill>
                          <a:latin typeface="Calibri"/>
                        </a:rPr>
                        <a:t>Bi-Objective: Accuracy &amp;</a:t>
                      </a:r>
                    </a:p>
                    <a:p>
                      <a:pPr algn="ctr"/>
                      <a:r>
                        <a:rPr sz="1100" b="0">
                          <a:solidFill>
                            <a:srgbClr val="222222"/>
                          </a:solidFill>
                          <a:latin typeface="Calibri"/>
                        </a:rPr>
                        <a:t>5-Component Overhead F</a:t>
                      </a:r>
                    </a:p>
                  </a:txBody>
                  <a:tcPr marL="54864" marR="54864" marT="18288" marB="18288" anchor="ctr">
                    <a:solidFill>
                      <a:srgbClr val="FFFFFF"/>
                    </a:solidFill>
                  </a:tcPr>
                </a:tc>
              </a:tr>
              <a:tr h="731520">
                <a:tc>
                  <a:txBody>
                    <a:bodyPr/>
                    <a:lstStyle/>
                    <a:p>
                      <a:pPr algn="l"/>
                      <a:r>
                        <a:rPr sz="1100" b="0">
                          <a:solidFill>
                            <a:srgbClr val="222222"/>
                          </a:solidFill>
                          <a:latin typeface="Calibri"/>
                        </a:rPr>
                        <a:t>Dataset Evaluated</a:t>
                      </a:r>
                    </a:p>
                  </a:txBody>
                  <a:tcPr marL="54864" marR="54864" marT="18288" marB="18288" anchor="ctr">
                    <a:solidFill>
                      <a:srgbClr val="F8F9FA"/>
                    </a:solidFill>
                  </a:tcPr>
                </a:tc>
                <a:tc>
                  <a:txBody>
                    <a:bodyPr/>
                    <a:lstStyle/>
                    <a:p>
                      <a:pPr algn="ctr"/>
                      <a:r>
                        <a:rPr sz="1100" b="0">
                          <a:solidFill>
                            <a:srgbClr val="222222"/>
                          </a:solidFill>
                          <a:latin typeface="Calibri"/>
                        </a:rPr>
                        <a:t>Synthetic / Historical</a:t>
                      </a:r>
                    </a:p>
                  </a:txBody>
                  <a:tcPr marL="54864" marR="54864" marT="18288" marB="18288" anchor="ctr">
                    <a:solidFill>
                      <a:srgbClr val="F8F9FA"/>
                    </a:solidFill>
                  </a:tcPr>
                </a:tc>
                <a:tc>
                  <a:txBody>
                    <a:bodyPr/>
                    <a:lstStyle/>
                    <a:p>
                      <a:pPr algn="ctr"/>
                      <a:r>
                        <a:rPr sz="1100" b="0">
                          <a:solidFill>
                            <a:srgbClr val="222222"/>
                          </a:solidFill>
                          <a:latin typeface="Calibri"/>
                        </a:rPr>
                        <a:t>Synthetic Gaussian</a:t>
                      </a:r>
                    </a:p>
                    <a:p>
                      <a:pPr algn="ctr"/>
                      <a:r>
                        <a:rPr sz="1100" b="0">
                          <a:solidFill>
                            <a:srgbClr val="222222"/>
                          </a:solidFill>
                          <a:latin typeface="Calibri"/>
                        </a:rPr>
                        <a:t>(N=3000)</a:t>
                      </a:r>
                    </a:p>
                  </a:txBody>
                  <a:tcPr marL="54864" marR="54864" marT="18288" marB="18288" anchor="ctr">
                    <a:solidFill>
                      <a:srgbClr val="F8F9FA"/>
                    </a:solidFill>
                  </a:tcPr>
                </a:tc>
                <a:tc>
                  <a:txBody>
                    <a:bodyPr/>
                    <a:lstStyle/>
                    <a:p>
                      <a:pPr algn="ctr"/>
                      <a:r>
                        <a:rPr sz="1100" b="0">
                          <a:solidFill>
                            <a:srgbClr val="222222"/>
                          </a:solidFill>
                          <a:latin typeface="Calibri"/>
                        </a:rPr>
                        <a:t>Real PCAPs: ISCX VPN 2016</a:t>
                      </a:r>
                    </a:p>
                    <a:p>
                      <a:pPr algn="ctr"/>
                      <a:r>
                        <a:rPr sz="1100" b="0">
                          <a:solidFill>
                            <a:srgbClr val="222222"/>
                          </a:solidFill>
                          <a:latin typeface="Calibri"/>
                        </a:rPr>
                        <a:t>&amp; USTC-TFC 2016</a:t>
                      </a:r>
                    </a:p>
                  </a:txBody>
                  <a:tcPr marL="54864" marR="54864" marT="18288" marB="18288" anchor="ctr">
                    <a:solidFill>
                      <a:srgbClr val="F8F9FA"/>
                    </a:solidFill>
                  </a:tcPr>
                </a:tc>
              </a:tr>
              <a:tr h="731520">
                <a:tc>
                  <a:txBody>
                    <a:bodyPr/>
                    <a:lstStyle/>
                    <a:p>
                      <a:pPr algn="l"/>
                      <a:r>
                        <a:rPr sz="1100" b="0">
                          <a:solidFill>
                            <a:srgbClr val="222222"/>
                          </a:solidFill>
                          <a:latin typeface="Calibri"/>
                        </a:rPr>
                        <a:t>Model Architectures</a:t>
                      </a:r>
                    </a:p>
                  </a:txBody>
                  <a:tcPr marL="54864" marR="54864" marT="18288" marB="18288" anchor="ctr">
                    <a:solidFill>
                      <a:srgbClr val="FFFFFF"/>
                    </a:solidFill>
                  </a:tcPr>
                </a:tc>
                <a:tc>
                  <a:txBody>
                    <a:bodyPr/>
                    <a:lstStyle/>
                    <a:p>
                      <a:pPr algn="ctr"/>
                      <a:r>
                        <a:rPr sz="1100" b="0">
                          <a:solidFill>
                            <a:srgbClr val="222222"/>
                          </a:solidFill>
                          <a:latin typeface="Calibri"/>
                        </a:rPr>
                        <a:t>FFNN (8-16-8-5, D=325)</a:t>
                      </a:r>
                    </a:p>
                  </a:txBody>
                  <a:tcPr marL="54864" marR="54864" marT="18288" marB="18288" anchor="ctr">
                    <a:solidFill>
                      <a:srgbClr val="FFFFFF"/>
                    </a:solidFill>
                  </a:tcPr>
                </a:tc>
                <a:tc>
                  <a:txBody>
                    <a:bodyPr/>
                    <a:lstStyle/>
                    <a:p>
                      <a:pPr algn="ctr"/>
                      <a:r>
                        <a:rPr sz="1100" b="0">
                          <a:solidFill>
                            <a:srgbClr val="222222"/>
                          </a:solidFill>
                          <a:latin typeface="Calibri"/>
                        </a:rPr>
                        <a:t>FFNN (8-16-8-5, D=325)</a:t>
                      </a:r>
                    </a:p>
                  </a:txBody>
                  <a:tcPr marL="54864" marR="54864" marT="18288" marB="18288" anchor="ctr">
                    <a:solidFill>
                      <a:srgbClr val="FFFFFF"/>
                    </a:solidFill>
                  </a:tcPr>
                </a:tc>
                <a:tc>
                  <a:txBody>
                    <a:bodyPr/>
                    <a:lstStyle/>
                    <a:p>
                      <a:pPr algn="ctr"/>
                      <a:r>
                        <a:rPr sz="1100" b="0">
                          <a:solidFill>
                            <a:srgbClr val="222222"/>
                          </a:solidFill>
                          <a:latin typeface="Calibri"/>
                        </a:rPr>
                        <a:t>FFNN + 1D-CNN + LSTM +</a:t>
                      </a:r>
                    </a:p>
                    <a:p>
                      <a:pPr algn="ctr"/>
                      <a:r>
                        <a:rPr sz="1100" b="0">
                          <a:solidFill>
                            <a:srgbClr val="222222"/>
                          </a:solidFill>
                          <a:latin typeface="Calibri"/>
                        </a:rPr>
                        <a:t>Transformer Baselines</a:t>
                      </a:r>
                    </a:p>
                  </a:txBody>
                  <a:tcPr marL="54864" marR="54864" marT="18288" marB="18288" anchor="ctr">
                    <a:solidFill>
                      <a:srgbClr val="FFFFFF"/>
                    </a:solidFill>
                  </a:tcPr>
                </a:tc>
              </a:tr>
              <a:tr h="731520">
                <a:tc>
                  <a:txBody>
                    <a:bodyPr/>
                    <a:lstStyle/>
                    <a:p>
                      <a:pPr algn="l"/>
                      <a:r>
                        <a:rPr sz="1100" b="0">
                          <a:solidFill>
                            <a:srgbClr val="222222"/>
                          </a:solidFill>
                          <a:latin typeface="Calibri"/>
                        </a:rPr>
                        <a:t>Evaluation Protocol</a:t>
                      </a:r>
                    </a:p>
                  </a:txBody>
                  <a:tcPr marL="54864" marR="54864" marT="18288" marB="18288" anchor="ctr">
                    <a:solidFill>
                      <a:srgbClr val="F8F9FA"/>
                    </a:solidFill>
                  </a:tcPr>
                </a:tc>
                <a:tc>
                  <a:txBody>
                    <a:bodyPr/>
                    <a:lstStyle/>
                    <a:p>
                      <a:pPr algn="ctr"/>
                      <a:r>
                        <a:rPr sz="1100" b="0">
                          <a:solidFill>
                            <a:srgbClr val="222222"/>
                          </a:solidFill>
                          <a:latin typeface="Calibri"/>
                        </a:rPr>
                        <a:t>Single Train/Test Split</a:t>
                      </a:r>
                    </a:p>
                  </a:txBody>
                  <a:tcPr marL="54864" marR="54864" marT="18288" marB="18288" anchor="ctr">
                    <a:solidFill>
                      <a:srgbClr val="F8F9FA"/>
                    </a:solidFill>
                  </a:tcPr>
                </a:tc>
                <a:tc>
                  <a:txBody>
                    <a:bodyPr/>
                    <a:lstStyle/>
                    <a:p>
                      <a:pPr algn="ctr"/>
                      <a:r>
                        <a:rPr sz="1100" b="0">
                          <a:solidFill>
                            <a:srgbClr val="222222"/>
                          </a:solidFill>
                          <a:latin typeface="Calibri"/>
                        </a:rPr>
                        <a:t>Single Split (80/20)</a:t>
                      </a:r>
                    </a:p>
                  </a:txBody>
                  <a:tcPr marL="54864" marR="54864" marT="18288" marB="18288" anchor="ctr">
                    <a:solidFill>
                      <a:srgbClr val="F8F9FA"/>
                    </a:solidFill>
                  </a:tcPr>
                </a:tc>
                <a:tc>
                  <a:txBody>
                    <a:bodyPr/>
                    <a:lstStyle/>
                    <a:p>
                      <a:pPr algn="ctr"/>
                      <a:r>
                        <a:rPr sz="1100" b="0">
                          <a:solidFill>
                            <a:srgbClr val="222222"/>
                          </a:solidFill>
                          <a:latin typeface="Calibri"/>
                        </a:rPr>
                        <a:t>10-Fold Stratified CV +</a:t>
                      </a:r>
                    </a:p>
                    <a:p>
                      <a:pPr algn="ctr"/>
                      <a:r>
                        <a:rPr sz="1100" b="0">
                          <a:solidFill>
                            <a:srgbClr val="222222"/>
                          </a:solidFill>
                          <a:latin typeface="Calibri"/>
                        </a:rPr>
                        <a:t>Paired t-tests</a:t>
                      </a:r>
                    </a:p>
                  </a:txBody>
                  <a:tcPr marL="54864" marR="54864" marT="18288" marB="18288" anchor="ctr">
                    <a:solidFill>
                      <a:srgbClr val="F8F9FA"/>
                    </a:solidFill>
                  </a:tcPr>
                </a:tc>
              </a:tr>
              <a:tr h="731520">
                <a:tc>
                  <a:txBody>
                    <a:bodyPr/>
                    <a:lstStyle/>
                    <a:p>
                      <a:pPr algn="l"/>
                      <a:r>
                        <a:rPr sz="1100" b="0">
                          <a:solidFill>
                            <a:srgbClr val="222222"/>
                          </a:solidFill>
                          <a:latin typeface="Calibri"/>
                        </a:rPr>
                        <a:t>Concept Drift</a:t>
                      </a:r>
                    </a:p>
                  </a:txBody>
                  <a:tcPr marL="54864" marR="54864" marT="18288" marB="18288" anchor="ctr">
                    <a:solidFill>
                      <a:srgbClr val="FFFFFF"/>
                    </a:solidFill>
                  </a:tcPr>
                </a:tc>
                <a:tc>
                  <a:txBody>
                    <a:bodyPr/>
                    <a:lstStyle/>
                    <a:p>
                      <a:pPr algn="ctr"/>
                      <a:r>
                        <a:rPr sz="1100" b="0">
                          <a:solidFill>
                            <a:srgbClr val="222222"/>
                          </a:solidFill>
                          <a:latin typeface="Calibri"/>
                        </a:rPr>
                        <a:t>None (Static Model)</a:t>
                      </a:r>
                    </a:p>
                  </a:txBody>
                  <a:tcPr marL="54864" marR="54864" marT="18288" marB="18288" anchor="ctr">
                    <a:solidFill>
                      <a:srgbClr val="FFFFFF"/>
                    </a:solidFill>
                  </a:tcPr>
                </a:tc>
                <a:tc>
                  <a:txBody>
                    <a:bodyPr/>
                    <a:lstStyle/>
                    <a:p>
                      <a:pPr algn="ctr"/>
                      <a:r>
                        <a:rPr sz="1100" b="0">
                          <a:solidFill>
                            <a:srgbClr val="222222"/>
                          </a:solidFill>
                          <a:latin typeface="Calibri"/>
                        </a:rPr>
                        <a:t>Page-Hinkley on</a:t>
                      </a:r>
                    </a:p>
                    <a:p>
                      <a:pPr algn="ctr"/>
                      <a:r>
                        <a:rPr sz="1100" b="0">
                          <a:solidFill>
                            <a:srgbClr val="222222"/>
                          </a:solidFill>
                          <a:latin typeface="Calibri"/>
                        </a:rPr>
                        <a:t>synthetic noise</a:t>
                      </a:r>
                    </a:p>
                  </a:txBody>
                  <a:tcPr marL="54864" marR="54864" marT="18288" marB="18288" anchor="ctr">
                    <a:solidFill>
                      <a:srgbClr val="FFFFFF"/>
                    </a:solidFill>
                  </a:tcPr>
                </a:tc>
                <a:tc>
                  <a:txBody>
                    <a:bodyPr/>
                    <a:lstStyle/>
                    <a:p>
                      <a:pPr algn="ctr"/>
                      <a:r>
                        <a:rPr sz="1100" b="0">
                          <a:solidFill>
                            <a:srgbClr val="222222"/>
                          </a:solidFill>
                          <a:latin typeface="Calibri"/>
                        </a:rPr>
                        <a:t>Page-Hinkley with Warm-</a:t>
                      </a:r>
                    </a:p>
                    <a:p>
                      <a:pPr algn="ctr"/>
                      <a:r>
                        <a:rPr sz="1100" b="0">
                          <a:solidFill>
                            <a:srgbClr val="222222"/>
                          </a:solidFill>
                          <a:latin typeface="Calibri"/>
                        </a:rPr>
                        <a:t>Restart on Real Flows</a:t>
                      </a:r>
                    </a:p>
                  </a:txBody>
                  <a:tcPr marL="54864" marR="54864" marT="18288" marB="18288" anchor="ctr">
                    <a:solidFill>
                      <a:srgbClr val="FFFFFF"/>
                    </a:solidFill>
                  </a:tcPr>
                </a:tc>
              </a:tr>
              <a:tr h="731520">
                <a:tc>
                  <a:txBody>
                    <a:bodyPr/>
                    <a:lstStyle/>
                    <a:p>
                      <a:pPr algn="l"/>
                      <a:r>
                        <a:rPr sz="1100" b="0">
                          <a:solidFill>
                            <a:srgbClr val="222222"/>
                          </a:solidFill>
                          <a:latin typeface="Calibri"/>
                        </a:rPr>
                        <a:t>Policy Flexibility</a:t>
                      </a:r>
                    </a:p>
                  </a:txBody>
                  <a:tcPr marL="54864" marR="54864" marT="18288" marB="18288" anchor="ctr">
                    <a:solidFill>
                      <a:srgbClr val="F8F9FA"/>
                    </a:solidFill>
                  </a:tcPr>
                </a:tc>
                <a:tc>
                  <a:txBody>
                    <a:bodyPr/>
                    <a:lstStyle/>
                    <a:p>
                      <a:pPr algn="ctr"/>
                      <a:r>
                        <a:rPr sz="1100" b="0">
                          <a:solidFill>
                            <a:srgbClr val="222222"/>
                          </a:solidFill>
                          <a:latin typeface="Calibri"/>
                        </a:rPr>
                        <a:t>None</a:t>
                      </a:r>
                    </a:p>
                  </a:txBody>
                  <a:tcPr marL="54864" marR="54864" marT="18288" marB="18288" anchor="ctr">
                    <a:solidFill>
                      <a:srgbClr val="F8F9FA"/>
                    </a:solidFill>
                  </a:tcPr>
                </a:tc>
                <a:tc>
                  <a:txBody>
                    <a:bodyPr/>
                    <a:lstStyle/>
                    <a:p>
                      <a:pPr algn="ctr"/>
                      <a:r>
                        <a:rPr sz="1100" b="0">
                          <a:solidFill>
                            <a:srgbClr val="222222"/>
                          </a:solidFill>
                          <a:latin typeface="Calibri"/>
                        </a:rPr>
                        <a:t>Fixed Weights</a:t>
                      </a:r>
                    </a:p>
                  </a:txBody>
                  <a:tcPr marL="54864" marR="54864" marT="18288" marB="18288" anchor="ctr">
                    <a:solidFill>
                      <a:srgbClr val="F8F9FA"/>
                    </a:solidFill>
                  </a:tcPr>
                </a:tc>
                <a:tc>
                  <a:txBody>
                    <a:bodyPr/>
                    <a:lstStyle/>
                    <a:p>
                      <a:pPr algn="ctr"/>
                      <a:r>
                        <a:rPr sz="1100" b="0">
                          <a:solidFill>
                            <a:srgbClr val="222222"/>
                          </a:solidFill>
                          <a:latin typeface="Calibri"/>
                        </a:rPr>
                        <a:t>3 Deployment Policies</a:t>
                      </a:r>
                    </a:p>
                    <a:p>
                      <a:pPr algn="ctr"/>
                      <a:r>
                        <a:rPr sz="1100" b="0">
                          <a:solidFill>
                            <a:srgbClr val="222222"/>
                          </a:solidFill>
                          <a:latin typeface="Calibri"/>
                        </a:rPr>
                        <a:t>(Accuracy, Bandwidth, Latency)</a:t>
                      </a:r>
                    </a:p>
                  </a:txBody>
                  <a:tcPr marL="54864" marR="54864" marT="18288" marB="18288" anchor="ctr">
                    <a:solidFill>
                      <a:srgbClr val="F8F9FA"/>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1B3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515600" cy="594360"/>
          </a:xfrm>
          <a:prstGeom prst="rect">
            <a:avLst/>
          </a:prstGeom>
          <a:noFill/>
        </p:spPr>
        <p:txBody>
          <a:bodyPr wrap="none">
            <a:spAutoFit/>
          </a:bodyPr>
          <a:lstStyle/>
          <a:p>
            <a:pPr>
              <a:defRPr sz="2600" b="1">
                <a:solidFill>
                  <a:srgbClr val="FFFFFF"/>
                </a:solidFill>
                <a:latin typeface="Calibri"/>
              </a:defRPr>
            </a:pPr>
            <a:r>
              <a:t>End-to-End System Pipeline</a:t>
            </a:r>
          </a:p>
        </p:txBody>
      </p:sp>
      <p:sp>
        <p:nvSpPr>
          <p:cNvPr id="5" name="TextBox 4"/>
          <p:cNvSpPr txBox="1"/>
          <p:nvPr/>
        </p:nvSpPr>
        <p:spPr>
          <a:xfrm>
            <a:off x="457200" y="621792"/>
            <a:ext cx="10515600" cy="274320"/>
          </a:xfrm>
          <a:prstGeom prst="rect">
            <a:avLst/>
          </a:prstGeom>
          <a:noFill/>
        </p:spPr>
        <p:txBody>
          <a:bodyPr wrap="none">
            <a:spAutoFit/>
          </a:bodyPr>
          <a:lstStyle/>
          <a:p>
            <a:pPr>
              <a:defRPr sz="1300">
                <a:solidFill>
                  <a:srgbClr val="C9D6E6"/>
                </a:solidFill>
              </a:defRPr>
            </a:pPr>
            <a:r>
              <a:t>Slide 3 of 11</a:t>
            </a:r>
          </a:p>
        </p:txBody>
      </p:sp>
      <p:sp>
        <p:nvSpPr>
          <p:cNvPr id="6" name="Rectangle 5"/>
          <p:cNvSpPr/>
          <p:nvPr/>
        </p:nvSpPr>
        <p:spPr>
          <a:xfrm>
            <a:off x="0" y="960120"/>
            <a:ext cx="12191695" cy="50800"/>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143000"/>
            <a:ext cx="11247120" cy="2194560"/>
          </a:xfrm>
          <a:prstGeom prst="rect">
            <a:avLst/>
          </a:prstGeom>
          <a:noFill/>
        </p:spPr>
        <p:txBody>
          <a:bodyPr wrap="square">
            <a:spAutoFit/>
          </a:bodyPr>
          <a:lstStyle/>
          <a:p>
            <a:pPr>
              <a:spcAft>
                <a:spcPts val="1000"/>
              </a:spcAft>
              <a:defRPr sz="1600">
                <a:solidFill>
                  <a:srgbClr val="222222"/>
                </a:solidFill>
                <a:latin typeface="Calibri"/>
              </a:defRPr>
            </a:pPr>
            <a:r>
              <a:t>•  Raw PCAP Ingestion → Stream packets using Scapy PcapReader</a:t>
            </a:r>
          </a:p>
          <a:p>
            <a:pPr>
              <a:spcAft>
                <a:spcPts val="1000"/>
              </a:spcAft>
              <a:defRPr sz="1600">
                <a:solidFill>
                  <a:srgbClr val="222222"/>
                </a:solidFill>
                <a:latin typeface="Calibri"/>
              </a:defRPr>
            </a:pPr>
            <a:r>
              <a:t>•  8-Feature Extraction → Temporal, volumetric &amp; transport features</a:t>
            </a:r>
          </a:p>
          <a:p>
            <a:pPr>
              <a:spcAft>
                <a:spcPts val="1000"/>
              </a:spcAft>
              <a:defRPr sz="1600">
                <a:solidFill>
                  <a:srgbClr val="222222"/>
                </a:solidFill>
                <a:latin typeface="Calibri"/>
              </a:defRPr>
            </a:pPr>
            <a:r>
              <a:t>•  Leakage-Free 10-Fold CV → Scaling fit strictly on training folds</a:t>
            </a:r>
          </a:p>
          <a:p>
            <a:pPr>
              <a:spcAft>
                <a:spcPts val="1000"/>
              </a:spcAft>
              <a:defRPr sz="1600">
                <a:solidFill>
                  <a:srgbClr val="222222"/>
                </a:solidFill>
                <a:latin typeface="Calibri"/>
              </a:defRPr>
            </a:pPr>
            <a:r>
              <a:t>•  MOPSO Optimizer + Page-Hinkley → 5-objective fitness + drift watch</a:t>
            </a:r>
          </a:p>
          <a:p>
            <a:pPr>
              <a:spcAft>
                <a:spcPts val="1000"/>
              </a:spcAft>
              <a:defRPr sz="1600">
                <a:solidFill>
                  <a:srgbClr val="222222"/>
                </a:solidFill>
                <a:latin typeface="Calibri"/>
              </a:defRPr>
            </a:pPr>
            <a:r>
              <a:t>•  SDWN OpenFlow Controller → Line-rate inference in &lt; 0.4 ms</a:t>
            </a:r>
          </a:p>
        </p:txBody>
      </p:sp>
      <p:pic>
        <p:nvPicPr>
          <p:cNvPr id="8" name="Picture 7" descr="fig_inst8_system_pipeline.png"/>
          <p:cNvPicPr>
            <a:picLocks noChangeAspect="1"/>
          </p:cNvPicPr>
          <p:nvPr/>
        </p:nvPicPr>
        <p:blipFill>
          <a:blip r:embed="rId2"/>
          <a:stretch>
            <a:fillRect/>
          </a:stretch>
        </p:blipFill>
        <p:spPr>
          <a:xfrm>
            <a:off x="3429000" y="3246120"/>
            <a:ext cx="5303520" cy="2651760"/>
          </a:xfrm>
          <a:prstGeom prst="rect">
            <a:avLst/>
          </a:prstGeom>
        </p:spPr>
      </p:pic>
      <p:sp>
        <p:nvSpPr>
          <p:cNvPr id="9" name="Rounded Rectangle 8"/>
          <p:cNvSpPr/>
          <p:nvPr/>
        </p:nvSpPr>
        <p:spPr>
          <a:xfrm>
            <a:off x="640080" y="5989320"/>
            <a:ext cx="10881360" cy="502920"/>
          </a:xfrm>
          <a:prstGeom prst="roundRect">
            <a:avLst/>
          </a:prstGeom>
          <a:solidFill>
            <a:srgbClr val="FFFFFF"/>
          </a:solidFill>
          <a:ln w="15875">
            <a:solidFill>
              <a:srgbClr val="008080"/>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a:lstStyle/>
          <a:p>
            <a:pPr algn="ctr">
              <a:defRPr b="1" sz="1300">
                <a:solidFill>
                  <a:srgbClr val="008080"/>
                </a:solidFill>
              </a:defRPr>
            </a:pPr>
            <a:r>
              <a:t>Key Takeaway: </a:t>
            </a:r>
            <a:r>
              <a:rPr sz="1300">
                <a:solidFill>
                  <a:srgbClr val="222222"/>
                </a:solidFill>
              </a:rPr>
              <a:t>Five stages take a raw packet capture to a live classification decision on the SDN switch.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1B3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515600" cy="594360"/>
          </a:xfrm>
          <a:prstGeom prst="rect">
            <a:avLst/>
          </a:prstGeom>
          <a:noFill/>
        </p:spPr>
        <p:txBody>
          <a:bodyPr wrap="none">
            <a:spAutoFit/>
          </a:bodyPr>
          <a:lstStyle/>
          <a:p>
            <a:pPr>
              <a:defRPr sz="2600" b="1">
                <a:solidFill>
                  <a:srgbClr val="FFFFFF"/>
                </a:solidFill>
                <a:latin typeface="Calibri"/>
              </a:defRPr>
            </a:pPr>
            <a:r>
              <a:t>Real-World Dataset Benchmarks &amp; Flow Durations</a:t>
            </a:r>
          </a:p>
        </p:txBody>
      </p:sp>
      <p:sp>
        <p:nvSpPr>
          <p:cNvPr id="5" name="TextBox 4"/>
          <p:cNvSpPr txBox="1"/>
          <p:nvPr/>
        </p:nvSpPr>
        <p:spPr>
          <a:xfrm>
            <a:off x="457200" y="621792"/>
            <a:ext cx="10515600" cy="274320"/>
          </a:xfrm>
          <a:prstGeom prst="rect">
            <a:avLst/>
          </a:prstGeom>
          <a:noFill/>
        </p:spPr>
        <p:txBody>
          <a:bodyPr wrap="none">
            <a:spAutoFit/>
          </a:bodyPr>
          <a:lstStyle/>
          <a:p>
            <a:pPr>
              <a:defRPr sz="1300">
                <a:solidFill>
                  <a:srgbClr val="C9D6E6"/>
                </a:solidFill>
              </a:defRPr>
            </a:pPr>
            <a:r>
              <a:t>Slide 4 of 11</a:t>
            </a:r>
          </a:p>
        </p:txBody>
      </p:sp>
      <p:sp>
        <p:nvSpPr>
          <p:cNvPr id="6" name="Rectangle 5"/>
          <p:cNvSpPr/>
          <p:nvPr/>
        </p:nvSpPr>
        <p:spPr>
          <a:xfrm>
            <a:off x="0" y="960120"/>
            <a:ext cx="12191695" cy="50800"/>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143000"/>
            <a:ext cx="11247120" cy="1554480"/>
          </a:xfrm>
          <a:prstGeom prst="rect">
            <a:avLst/>
          </a:prstGeom>
          <a:noFill/>
        </p:spPr>
        <p:txBody>
          <a:bodyPr wrap="square">
            <a:spAutoFit/>
          </a:bodyPr>
          <a:lstStyle/>
          <a:p>
            <a:pPr>
              <a:spcAft>
                <a:spcPts val="1000"/>
              </a:spcAft>
              <a:defRPr sz="1600">
                <a:solidFill>
                  <a:srgbClr val="222222"/>
                </a:solidFill>
                <a:latin typeface="Calibri"/>
              </a:defRPr>
            </a:pPr>
            <a:r>
              <a:t>•  ISCX VPN-nonVPN 2016: 5 balanced classes, 600x5 = 3,000 flows (Web Chat, Email, File Transfer, Streaming, VPN Tunnel)</a:t>
            </a:r>
          </a:p>
          <a:p>
            <a:pPr>
              <a:spcAft>
                <a:spcPts val="1000"/>
              </a:spcAft>
              <a:defRPr sz="1600">
                <a:solidFill>
                  <a:srgbClr val="222222"/>
                </a:solidFill>
                <a:latin typeface="Calibri"/>
              </a:defRPr>
            </a:pPr>
            <a:r>
              <a:t>•  USTC-TFC 2016: 5 balanced classes, 600x5 = 3,000 flows (BitTorrent, FaceTime, FTP, Cridex Malware, Geodo Malware)</a:t>
            </a:r>
          </a:p>
          <a:p>
            <a:pPr>
              <a:spcAft>
                <a:spcPts val="1000"/>
              </a:spcAft>
              <a:defRPr sz="1600">
                <a:solidFill>
                  <a:srgbClr val="222222"/>
                </a:solidFill>
                <a:latin typeface="Calibri"/>
              </a:defRPr>
            </a:pPr>
            <a:r>
              <a:t>•  Benign traffic finishes in under 1 ms; malware botnets persist for 5 to 9 s to keep C2 channels alive</a:t>
            </a:r>
          </a:p>
        </p:txBody>
      </p:sp>
      <p:pic>
        <p:nvPicPr>
          <p:cNvPr id="8" name="Picture 7" descr="fig_inst1_dataset_durations.png"/>
          <p:cNvPicPr>
            <a:picLocks noChangeAspect="1"/>
          </p:cNvPicPr>
          <p:nvPr/>
        </p:nvPicPr>
        <p:blipFill>
          <a:blip r:embed="rId2"/>
          <a:stretch>
            <a:fillRect/>
          </a:stretch>
        </p:blipFill>
        <p:spPr>
          <a:xfrm>
            <a:off x="2356658" y="2697480"/>
            <a:ext cx="7448203" cy="2926080"/>
          </a:xfrm>
          <a:prstGeom prst="rect">
            <a:avLst/>
          </a:prstGeom>
        </p:spPr>
      </p:pic>
      <p:sp>
        <p:nvSpPr>
          <p:cNvPr id="9" name="Rounded Rectangle 8"/>
          <p:cNvSpPr/>
          <p:nvPr/>
        </p:nvSpPr>
        <p:spPr>
          <a:xfrm>
            <a:off x="640080" y="5989320"/>
            <a:ext cx="10881360" cy="502920"/>
          </a:xfrm>
          <a:prstGeom prst="roundRect">
            <a:avLst/>
          </a:prstGeom>
          <a:solidFill>
            <a:srgbClr val="FFFFFF"/>
          </a:solidFill>
          <a:ln w="15875">
            <a:solidFill>
              <a:srgbClr val="008080"/>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a:lstStyle/>
          <a:p>
            <a:pPr algn="ctr">
              <a:defRPr b="1" sz="1300">
                <a:solidFill>
                  <a:srgbClr val="008080"/>
                </a:solidFill>
              </a:defRPr>
            </a:pPr>
            <a:r>
              <a:t>Key Takeaway: </a:t>
            </a:r>
            <a:r>
              <a:rPr sz="1300">
                <a:solidFill>
                  <a:srgbClr val="222222"/>
                </a:solidFill>
              </a:rPr>
              <a:t>Both datasets are perfectly balanced at 3,000 flows; duration alone already separates benign from malicious traffic.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1B3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515600" cy="594360"/>
          </a:xfrm>
          <a:prstGeom prst="rect">
            <a:avLst/>
          </a:prstGeom>
          <a:noFill/>
        </p:spPr>
        <p:txBody>
          <a:bodyPr wrap="none">
            <a:spAutoFit/>
          </a:bodyPr>
          <a:lstStyle/>
          <a:p>
            <a:pPr>
              <a:defRPr sz="2600" b="1">
                <a:solidFill>
                  <a:srgbClr val="FFFFFF"/>
                </a:solidFill>
                <a:latin typeface="Calibri"/>
              </a:defRPr>
            </a:pPr>
            <a:r>
              <a:t>Mathematical Rigor &amp; Swarm Stability (Lemmas 1 &amp; 2)</a:t>
            </a:r>
          </a:p>
        </p:txBody>
      </p:sp>
      <p:sp>
        <p:nvSpPr>
          <p:cNvPr id="5" name="TextBox 4"/>
          <p:cNvSpPr txBox="1"/>
          <p:nvPr/>
        </p:nvSpPr>
        <p:spPr>
          <a:xfrm>
            <a:off x="457200" y="621792"/>
            <a:ext cx="10515600" cy="274320"/>
          </a:xfrm>
          <a:prstGeom prst="rect">
            <a:avLst/>
          </a:prstGeom>
          <a:noFill/>
        </p:spPr>
        <p:txBody>
          <a:bodyPr wrap="none">
            <a:spAutoFit/>
          </a:bodyPr>
          <a:lstStyle/>
          <a:p>
            <a:pPr>
              <a:defRPr sz="1300">
                <a:solidFill>
                  <a:srgbClr val="C9D6E6"/>
                </a:solidFill>
              </a:defRPr>
            </a:pPr>
            <a:r>
              <a:t>Slide 5 of 11</a:t>
            </a:r>
          </a:p>
        </p:txBody>
      </p:sp>
      <p:sp>
        <p:nvSpPr>
          <p:cNvPr id="6" name="Rectangle 5"/>
          <p:cNvSpPr/>
          <p:nvPr/>
        </p:nvSpPr>
        <p:spPr>
          <a:xfrm>
            <a:off x="0" y="960120"/>
            <a:ext cx="12191695" cy="50800"/>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143000"/>
            <a:ext cx="11247120" cy="1645920"/>
          </a:xfrm>
          <a:prstGeom prst="rect">
            <a:avLst/>
          </a:prstGeom>
          <a:noFill/>
        </p:spPr>
        <p:txBody>
          <a:bodyPr wrap="square">
            <a:spAutoFit/>
          </a:bodyPr>
          <a:lstStyle/>
          <a:p>
            <a:pPr>
              <a:spcAft>
                <a:spcPts val="1000"/>
              </a:spcAft>
              <a:defRPr sz="1600">
                <a:solidFill>
                  <a:srgbClr val="222222"/>
                </a:solidFill>
                <a:latin typeface="Calibri"/>
              </a:defRPr>
            </a:pPr>
            <a:r>
              <a:t>•  Lemma 1: Eigenvalues 0.1168 ± 0.8463i → spectral radius ρ = 0.8543 &lt; 1.0 → guaranteed convergence</a:t>
            </a:r>
          </a:p>
          <a:p>
            <a:pPr>
              <a:spcAft>
                <a:spcPts val="1000"/>
              </a:spcAft>
              <a:defRPr sz="1600">
                <a:solidFill>
                  <a:srgbClr val="222222"/>
                </a:solidFill>
                <a:latin typeface="Calibri"/>
              </a:defRPr>
            </a:pPr>
            <a:r>
              <a:t>•  Lemma 2: c1+c2 = 2.99236 &lt; 3.3474 safety margin → particle variance decays to zero, no swarm explosion</a:t>
            </a:r>
          </a:p>
          <a:p>
            <a:pPr>
              <a:spcAft>
                <a:spcPts val="1000"/>
              </a:spcAft>
              <a:defRPr sz="1600">
                <a:solidFill>
                  <a:srgbClr val="222222"/>
                </a:solidFill>
                <a:latin typeface="Calibri"/>
              </a:defRPr>
            </a:pPr>
            <a:r>
              <a:t>•  SDWN benefit: eliminates switch flow-table thrashing and southbound message floods</a:t>
            </a:r>
          </a:p>
        </p:txBody>
      </p:sp>
      <p:pic>
        <p:nvPicPr>
          <p:cNvPr id="8" name="Picture 7" descr="fig_inst6_lemma_stability.png"/>
          <p:cNvPicPr>
            <a:picLocks noChangeAspect="1"/>
          </p:cNvPicPr>
          <p:nvPr/>
        </p:nvPicPr>
        <p:blipFill>
          <a:blip r:embed="rId2"/>
          <a:stretch>
            <a:fillRect/>
          </a:stretch>
        </p:blipFill>
        <p:spPr>
          <a:xfrm>
            <a:off x="2473036" y="2788920"/>
            <a:ext cx="7215447" cy="2834640"/>
          </a:xfrm>
          <a:prstGeom prst="rect">
            <a:avLst/>
          </a:prstGeom>
        </p:spPr>
      </p:pic>
      <p:sp>
        <p:nvSpPr>
          <p:cNvPr id="9" name="Rounded Rectangle 8"/>
          <p:cNvSpPr/>
          <p:nvPr/>
        </p:nvSpPr>
        <p:spPr>
          <a:xfrm>
            <a:off x="640080" y="5989320"/>
            <a:ext cx="10881360" cy="502920"/>
          </a:xfrm>
          <a:prstGeom prst="roundRect">
            <a:avLst/>
          </a:prstGeom>
          <a:solidFill>
            <a:srgbClr val="FFFFFF"/>
          </a:solidFill>
          <a:ln w="15875">
            <a:solidFill>
              <a:srgbClr val="008080"/>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a:lstStyle/>
          <a:p>
            <a:pPr algn="ctr">
              <a:defRPr b="1" sz="1300">
                <a:solidFill>
                  <a:srgbClr val="008080"/>
                </a:solidFill>
              </a:defRPr>
            </a:pPr>
            <a:r>
              <a:t>Key Takeaway: </a:t>
            </a:r>
            <a:r>
              <a:rPr sz="1300">
                <a:solidFill>
                  <a:srgbClr val="222222"/>
                </a:solidFill>
              </a:rPr>
              <a:t>Because ρ &lt; 1 and variance vanishes, the swarm can never oscillate out of control on a live network.</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1B3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515600" cy="594360"/>
          </a:xfrm>
          <a:prstGeom prst="rect">
            <a:avLst/>
          </a:prstGeom>
          <a:noFill/>
        </p:spPr>
        <p:txBody>
          <a:bodyPr wrap="none">
            <a:spAutoFit/>
          </a:bodyPr>
          <a:lstStyle/>
          <a:p>
            <a:pPr>
              <a:defRPr sz="2600" b="1">
                <a:solidFill>
                  <a:srgbClr val="FFFFFF"/>
                </a:solidFill>
                <a:latin typeface="Calibri"/>
              </a:defRPr>
            </a:pPr>
            <a:r>
              <a:t>10-Fold Cross-Validation &amp; Statistical Significance</a:t>
            </a:r>
          </a:p>
        </p:txBody>
      </p:sp>
      <p:sp>
        <p:nvSpPr>
          <p:cNvPr id="5" name="TextBox 4"/>
          <p:cNvSpPr txBox="1"/>
          <p:nvPr/>
        </p:nvSpPr>
        <p:spPr>
          <a:xfrm>
            <a:off x="457200" y="621792"/>
            <a:ext cx="10515600" cy="274320"/>
          </a:xfrm>
          <a:prstGeom prst="rect">
            <a:avLst/>
          </a:prstGeom>
          <a:noFill/>
        </p:spPr>
        <p:txBody>
          <a:bodyPr wrap="none">
            <a:spAutoFit/>
          </a:bodyPr>
          <a:lstStyle/>
          <a:p>
            <a:pPr>
              <a:defRPr sz="1300">
                <a:solidFill>
                  <a:srgbClr val="C9D6E6"/>
                </a:solidFill>
              </a:defRPr>
            </a:pPr>
            <a:r>
              <a:t>Slide 6 of 11</a:t>
            </a:r>
          </a:p>
        </p:txBody>
      </p:sp>
      <p:sp>
        <p:nvSpPr>
          <p:cNvPr id="6" name="Rectangle 5"/>
          <p:cNvSpPr/>
          <p:nvPr/>
        </p:nvSpPr>
        <p:spPr>
          <a:xfrm>
            <a:off x="0" y="960120"/>
            <a:ext cx="12191695" cy="50800"/>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143000"/>
            <a:ext cx="11247120" cy="1188720"/>
          </a:xfrm>
          <a:prstGeom prst="rect">
            <a:avLst/>
          </a:prstGeom>
          <a:noFill/>
        </p:spPr>
        <p:txBody>
          <a:bodyPr wrap="square">
            <a:spAutoFit/>
          </a:bodyPr>
          <a:lstStyle/>
          <a:p>
            <a:pPr>
              <a:spcAft>
                <a:spcPts val="1000"/>
              </a:spcAft>
              <a:defRPr sz="1500">
                <a:solidFill>
                  <a:srgbClr val="222222"/>
                </a:solidFill>
                <a:latin typeface="Calibri"/>
              </a:defRPr>
            </a:pPr>
            <a:r>
              <a:t>•  USTC: PSO-FFNN 74.90 ± 2.30% (F=0.3544) vs MOPSO-FFNN-AD 62.97 ± 8.45% (F=0.3816) → p = 0.0028 &lt; 0.01</a:t>
            </a:r>
          </a:p>
          <a:p>
            <a:pPr>
              <a:spcAft>
                <a:spcPts val="1000"/>
              </a:spcAft>
              <a:defRPr sz="1500">
                <a:solidFill>
                  <a:srgbClr val="222222"/>
                </a:solidFill>
                <a:latin typeface="Calibri"/>
              </a:defRPr>
            </a:pPr>
            <a:r>
              <a:t>•  ISCX: PSO-FFNN 47.93 ± 2.88% (F=0.4486) vs MOPSO-FFNN-AD 37.87 ± 5.65% (F=0.4817) → p = 0.0030 &lt; 0.01</a:t>
            </a:r>
          </a:p>
        </p:txBody>
      </p:sp>
      <p:pic>
        <p:nvPicPr>
          <p:cNvPr id="8" name="Picture 7" descr="fig_inst3_cv_bars_ustc.png"/>
          <p:cNvPicPr>
            <a:picLocks noChangeAspect="1"/>
          </p:cNvPicPr>
          <p:nvPr/>
        </p:nvPicPr>
        <p:blipFill>
          <a:blip r:embed="rId2"/>
          <a:stretch>
            <a:fillRect/>
          </a:stretch>
        </p:blipFill>
        <p:spPr>
          <a:xfrm>
            <a:off x="365760" y="2973433"/>
            <a:ext cx="5577840" cy="2191294"/>
          </a:xfrm>
          <a:prstGeom prst="rect">
            <a:avLst/>
          </a:prstGeom>
        </p:spPr>
      </p:pic>
      <p:pic>
        <p:nvPicPr>
          <p:cNvPr id="9" name="Picture 8" descr="fig_inst3_cv_bars_iscx.png"/>
          <p:cNvPicPr>
            <a:picLocks noChangeAspect="1"/>
          </p:cNvPicPr>
          <p:nvPr/>
        </p:nvPicPr>
        <p:blipFill>
          <a:blip r:embed="rId3"/>
          <a:stretch>
            <a:fillRect/>
          </a:stretch>
        </p:blipFill>
        <p:spPr>
          <a:xfrm>
            <a:off x="6126480" y="2973433"/>
            <a:ext cx="5577840" cy="2191294"/>
          </a:xfrm>
          <a:prstGeom prst="rect">
            <a:avLst/>
          </a:prstGeom>
        </p:spPr>
      </p:pic>
      <p:sp>
        <p:nvSpPr>
          <p:cNvPr id="10" name="Rounded Rectangle 9"/>
          <p:cNvSpPr/>
          <p:nvPr/>
        </p:nvSpPr>
        <p:spPr>
          <a:xfrm>
            <a:off x="640080" y="5989320"/>
            <a:ext cx="10881360" cy="502920"/>
          </a:xfrm>
          <a:prstGeom prst="roundRect">
            <a:avLst/>
          </a:prstGeom>
          <a:solidFill>
            <a:srgbClr val="FFFFFF"/>
          </a:solidFill>
          <a:ln w="15875">
            <a:solidFill>
              <a:srgbClr val="008080"/>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a:lstStyle/>
          <a:p>
            <a:pPr algn="ctr">
              <a:defRPr b="1" sz="1300">
                <a:solidFill>
                  <a:srgbClr val="008080"/>
                </a:solidFill>
              </a:defRPr>
            </a:pPr>
            <a:r>
              <a:t>Key Takeaway: </a:t>
            </a:r>
            <a:r>
              <a:rPr sz="1300">
                <a:solidFill>
                  <a:srgbClr val="222222"/>
                </a:solidFill>
              </a:rPr>
              <a:t>Both p-values are well under 0.01 -- the multi-objective trade-off is statistically genuine, not random variation.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1B3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515600" cy="594360"/>
          </a:xfrm>
          <a:prstGeom prst="rect">
            <a:avLst/>
          </a:prstGeom>
          <a:noFill/>
        </p:spPr>
        <p:txBody>
          <a:bodyPr wrap="none">
            <a:spAutoFit/>
          </a:bodyPr>
          <a:lstStyle/>
          <a:p>
            <a:pPr>
              <a:defRPr sz="2600" b="1">
                <a:solidFill>
                  <a:srgbClr val="FFFFFF"/>
                </a:solidFill>
                <a:latin typeface="Calibri"/>
              </a:defRPr>
            </a:pPr>
            <a:r>
              <a:t>Deep Learning Baseline Comparison (Table 6)</a:t>
            </a:r>
          </a:p>
        </p:txBody>
      </p:sp>
      <p:sp>
        <p:nvSpPr>
          <p:cNvPr id="5" name="TextBox 4"/>
          <p:cNvSpPr txBox="1"/>
          <p:nvPr/>
        </p:nvSpPr>
        <p:spPr>
          <a:xfrm>
            <a:off x="457200" y="621792"/>
            <a:ext cx="10515600" cy="274320"/>
          </a:xfrm>
          <a:prstGeom prst="rect">
            <a:avLst/>
          </a:prstGeom>
          <a:noFill/>
        </p:spPr>
        <p:txBody>
          <a:bodyPr wrap="none">
            <a:spAutoFit/>
          </a:bodyPr>
          <a:lstStyle/>
          <a:p>
            <a:pPr>
              <a:defRPr sz="1300">
                <a:solidFill>
                  <a:srgbClr val="C9D6E6"/>
                </a:solidFill>
              </a:defRPr>
            </a:pPr>
            <a:r>
              <a:t>Slide 7 of 11</a:t>
            </a:r>
          </a:p>
        </p:txBody>
      </p:sp>
      <p:sp>
        <p:nvSpPr>
          <p:cNvPr id="6" name="Rectangle 5"/>
          <p:cNvSpPr/>
          <p:nvPr/>
        </p:nvSpPr>
        <p:spPr>
          <a:xfrm>
            <a:off x="0" y="960120"/>
            <a:ext cx="12191695" cy="50800"/>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48640" y="1143000"/>
          <a:ext cx="11064236" cy="1920240"/>
        </p:xfrm>
        <a:graphic>
          <a:graphicData uri="http://schemas.openxmlformats.org/drawingml/2006/table">
            <a:tbl>
              <a:tblPr firstRow="1" bandRow="1">
                <a:tableStyleId>{5C22544A-7EE6-4342-B048-85BDC9FD1C3A}</a:tableStyleId>
              </a:tblPr>
              <a:tblGrid>
                <a:gridCol w="3161211"/>
                <a:gridCol w="1685979"/>
                <a:gridCol w="1475231"/>
                <a:gridCol w="1580605"/>
                <a:gridCol w="1475231"/>
                <a:gridCol w="1685979"/>
              </a:tblGrid>
              <a:tr h="320040">
                <a:tc>
                  <a:txBody>
                    <a:bodyPr/>
                    <a:lstStyle/>
                    <a:p>
                      <a:pPr algn="l"/>
                      <a:r>
                        <a:rPr sz="1300" b="1">
                          <a:solidFill>
                            <a:srgbClr val="FFFFFF"/>
                          </a:solidFill>
                          <a:latin typeface="Calibri"/>
                        </a:rPr>
                        <a:t>Architecture</a:t>
                      </a:r>
                    </a:p>
                  </a:txBody>
                  <a:tcPr marL="54864" marR="54864" marT="18288" marB="18288" anchor="ctr">
                    <a:solidFill>
                      <a:srgbClr val="1B365D"/>
                    </a:solidFill>
                  </a:tcPr>
                </a:tc>
                <a:tc>
                  <a:txBody>
                    <a:bodyPr/>
                    <a:lstStyle/>
                    <a:p>
                      <a:pPr algn="ctr"/>
                      <a:r>
                        <a:rPr sz="1300" b="1">
                          <a:solidFill>
                            <a:srgbClr val="FFFFFF"/>
                          </a:solidFill>
                          <a:latin typeface="Calibri"/>
                        </a:rPr>
                        <a:t>Params (D)</a:t>
                      </a:r>
                    </a:p>
                  </a:txBody>
                  <a:tcPr marL="54864" marR="54864" marT="18288" marB="18288" anchor="ctr">
                    <a:solidFill>
                      <a:srgbClr val="1B365D"/>
                    </a:solidFill>
                  </a:tcPr>
                </a:tc>
                <a:tc>
                  <a:txBody>
                    <a:bodyPr/>
                    <a:lstStyle/>
                    <a:p>
                      <a:pPr algn="ctr"/>
                      <a:r>
                        <a:rPr sz="1300" b="1">
                          <a:solidFill>
                            <a:srgbClr val="FFFFFF"/>
                          </a:solidFill>
                          <a:latin typeface="Calibri"/>
                        </a:rPr>
                        <a:t>Rel. Size</a:t>
                      </a:r>
                    </a:p>
                  </a:txBody>
                  <a:tcPr marL="54864" marR="54864" marT="18288" marB="18288" anchor="ctr">
                    <a:solidFill>
                      <a:srgbClr val="1B365D"/>
                    </a:solidFill>
                  </a:tcPr>
                </a:tc>
                <a:tc>
                  <a:txBody>
                    <a:bodyPr/>
                    <a:lstStyle/>
                    <a:p>
                      <a:pPr algn="ctr"/>
                      <a:r>
                        <a:rPr sz="1300" b="1">
                          <a:solidFill>
                            <a:srgbClr val="FFFFFF"/>
                          </a:solidFill>
                          <a:latin typeface="Calibri"/>
                        </a:rPr>
                        <a:t>USTC Acc</a:t>
                      </a:r>
                    </a:p>
                  </a:txBody>
                  <a:tcPr marL="54864" marR="54864" marT="18288" marB="18288" anchor="ctr">
                    <a:solidFill>
                      <a:srgbClr val="1B365D"/>
                    </a:solidFill>
                  </a:tcPr>
                </a:tc>
                <a:tc>
                  <a:txBody>
                    <a:bodyPr/>
                    <a:lstStyle/>
                    <a:p>
                      <a:pPr algn="ctr"/>
                      <a:r>
                        <a:rPr sz="1300" b="1">
                          <a:solidFill>
                            <a:srgbClr val="FFFFFF"/>
                          </a:solidFill>
                          <a:latin typeface="Calibri"/>
                        </a:rPr>
                        <a:t>USTC F</a:t>
                      </a:r>
                    </a:p>
                  </a:txBody>
                  <a:tcPr marL="54864" marR="54864" marT="18288" marB="18288" anchor="ctr">
                    <a:solidFill>
                      <a:srgbClr val="1B365D"/>
                    </a:solidFill>
                  </a:tcPr>
                </a:tc>
                <a:tc>
                  <a:txBody>
                    <a:bodyPr/>
                    <a:lstStyle/>
                    <a:p>
                      <a:pPr algn="ctr"/>
                      <a:r>
                        <a:rPr sz="1300" b="1">
                          <a:solidFill>
                            <a:srgbClr val="FFFFFF"/>
                          </a:solidFill>
                          <a:latin typeface="Calibri"/>
                        </a:rPr>
                        <a:t>Drift Adapt?</a:t>
                      </a:r>
                    </a:p>
                  </a:txBody>
                  <a:tcPr marL="54864" marR="54864" marT="18288" marB="18288" anchor="ctr">
                    <a:solidFill>
                      <a:srgbClr val="1B365D"/>
                    </a:solidFill>
                  </a:tcPr>
                </a:tc>
              </a:tr>
              <a:tr h="320040">
                <a:tc>
                  <a:txBody>
                    <a:bodyPr/>
                    <a:lstStyle/>
                    <a:p>
                      <a:pPr algn="l"/>
                      <a:r>
                        <a:rPr sz="1300" b="0">
                          <a:solidFill>
                            <a:srgbClr val="222222"/>
                          </a:solidFill>
                          <a:latin typeface="Calibri"/>
                        </a:rPr>
                        <a:t>Compact Transformer</a:t>
                      </a:r>
                    </a:p>
                  </a:txBody>
                  <a:tcPr marL="54864" marR="54864" marT="18288" marB="18288" anchor="ctr">
                    <a:solidFill>
                      <a:srgbClr val="FFFFFF"/>
                    </a:solidFill>
                  </a:tcPr>
                </a:tc>
                <a:tc>
                  <a:txBody>
                    <a:bodyPr/>
                    <a:lstStyle/>
                    <a:p>
                      <a:pPr algn="ctr"/>
                      <a:r>
                        <a:rPr sz="1300" b="0">
                          <a:solidFill>
                            <a:srgbClr val="222222"/>
                          </a:solidFill>
                          <a:latin typeface="Calibri"/>
                        </a:rPr>
                        <a:t>18,437</a:t>
                      </a:r>
                    </a:p>
                  </a:txBody>
                  <a:tcPr marL="54864" marR="54864" marT="18288" marB="18288" anchor="ctr">
                    <a:solidFill>
                      <a:srgbClr val="FFFFFF"/>
                    </a:solidFill>
                  </a:tcPr>
                </a:tc>
                <a:tc>
                  <a:txBody>
                    <a:bodyPr/>
                    <a:lstStyle/>
                    <a:p>
                      <a:pPr algn="ctr"/>
                      <a:r>
                        <a:rPr sz="1300" b="0">
                          <a:solidFill>
                            <a:srgbClr val="222222"/>
                          </a:solidFill>
                          <a:latin typeface="Calibri"/>
                        </a:rPr>
                        <a:t>56.7x</a:t>
                      </a:r>
                    </a:p>
                  </a:txBody>
                  <a:tcPr marL="54864" marR="54864" marT="18288" marB="18288" anchor="ctr">
                    <a:solidFill>
                      <a:srgbClr val="FFFFFF"/>
                    </a:solidFill>
                  </a:tcPr>
                </a:tc>
                <a:tc>
                  <a:txBody>
                    <a:bodyPr/>
                    <a:lstStyle/>
                    <a:p>
                      <a:pPr algn="ctr"/>
                      <a:r>
                        <a:rPr sz="1300" b="0">
                          <a:solidFill>
                            <a:srgbClr val="222222"/>
                          </a:solidFill>
                          <a:latin typeface="Calibri"/>
                        </a:rPr>
                        <a:t>78.57%</a:t>
                      </a:r>
                    </a:p>
                  </a:txBody>
                  <a:tcPr marL="54864" marR="54864" marT="18288" marB="18288" anchor="ctr">
                    <a:solidFill>
                      <a:srgbClr val="FFFFFF"/>
                    </a:solidFill>
                  </a:tcPr>
                </a:tc>
                <a:tc>
                  <a:txBody>
                    <a:bodyPr/>
                    <a:lstStyle/>
                    <a:p>
                      <a:pPr algn="ctr"/>
                      <a:r>
                        <a:rPr sz="1300" b="0">
                          <a:solidFill>
                            <a:srgbClr val="222222"/>
                          </a:solidFill>
                          <a:latin typeface="Calibri"/>
                        </a:rPr>
                        <a:t>0.1686</a:t>
                      </a:r>
                    </a:p>
                  </a:txBody>
                  <a:tcPr marL="54864" marR="54864" marT="18288" marB="18288" anchor="ctr">
                    <a:solidFill>
                      <a:srgbClr val="FFFFFF"/>
                    </a:solidFill>
                  </a:tcPr>
                </a:tc>
                <a:tc>
                  <a:txBody>
                    <a:bodyPr/>
                    <a:lstStyle/>
                    <a:p>
                      <a:pPr algn="ctr"/>
                      <a:r>
                        <a:rPr sz="1300" b="0">
                          <a:solidFill>
                            <a:srgbClr val="222222"/>
                          </a:solidFill>
                          <a:latin typeface="Calibri"/>
                        </a:rPr>
                        <a:t>No</a:t>
                      </a:r>
                    </a:p>
                  </a:txBody>
                  <a:tcPr marL="54864" marR="54864" marT="18288" marB="18288" anchor="ctr">
                    <a:solidFill>
                      <a:srgbClr val="FFFFFF"/>
                    </a:solidFill>
                  </a:tcPr>
                </a:tc>
              </a:tr>
              <a:tr h="320040">
                <a:tc>
                  <a:txBody>
                    <a:bodyPr/>
                    <a:lstStyle/>
                    <a:p>
                      <a:pPr algn="l"/>
                      <a:r>
                        <a:rPr sz="1300" b="0">
                          <a:solidFill>
                            <a:srgbClr val="222222"/>
                          </a:solidFill>
                          <a:latin typeface="Calibri"/>
                        </a:rPr>
                        <a:t>PyTorch LSTM</a:t>
                      </a:r>
                    </a:p>
                  </a:txBody>
                  <a:tcPr marL="54864" marR="54864" marT="18288" marB="18288" anchor="ctr">
                    <a:solidFill>
                      <a:srgbClr val="F8F9FA"/>
                    </a:solidFill>
                  </a:tcPr>
                </a:tc>
                <a:tc>
                  <a:txBody>
                    <a:bodyPr/>
                    <a:lstStyle/>
                    <a:p>
                      <a:pPr algn="ctr"/>
                      <a:r>
                        <a:rPr sz="1300" b="0">
                          <a:solidFill>
                            <a:srgbClr val="222222"/>
                          </a:solidFill>
                          <a:latin typeface="Calibri"/>
                        </a:rPr>
                        <a:t>13,093</a:t>
                      </a:r>
                    </a:p>
                  </a:txBody>
                  <a:tcPr marL="54864" marR="54864" marT="18288" marB="18288" anchor="ctr">
                    <a:solidFill>
                      <a:srgbClr val="F8F9FA"/>
                    </a:solidFill>
                  </a:tcPr>
                </a:tc>
                <a:tc>
                  <a:txBody>
                    <a:bodyPr/>
                    <a:lstStyle/>
                    <a:p>
                      <a:pPr algn="ctr"/>
                      <a:r>
                        <a:rPr sz="1300" b="0">
                          <a:solidFill>
                            <a:srgbClr val="222222"/>
                          </a:solidFill>
                          <a:latin typeface="Calibri"/>
                        </a:rPr>
                        <a:t>40.3x</a:t>
                      </a:r>
                    </a:p>
                  </a:txBody>
                  <a:tcPr marL="54864" marR="54864" marT="18288" marB="18288" anchor="ctr">
                    <a:solidFill>
                      <a:srgbClr val="F8F9FA"/>
                    </a:solidFill>
                  </a:tcPr>
                </a:tc>
                <a:tc>
                  <a:txBody>
                    <a:bodyPr/>
                    <a:lstStyle/>
                    <a:p>
                      <a:pPr algn="ctr"/>
                      <a:r>
                        <a:rPr sz="1300" b="0">
                          <a:solidFill>
                            <a:srgbClr val="222222"/>
                          </a:solidFill>
                          <a:latin typeface="Calibri"/>
                        </a:rPr>
                        <a:t>77.47%</a:t>
                      </a:r>
                    </a:p>
                  </a:txBody>
                  <a:tcPr marL="54864" marR="54864" marT="18288" marB="18288" anchor="ctr">
                    <a:solidFill>
                      <a:srgbClr val="F8F9FA"/>
                    </a:solidFill>
                  </a:tcPr>
                </a:tc>
                <a:tc>
                  <a:txBody>
                    <a:bodyPr/>
                    <a:lstStyle/>
                    <a:p>
                      <a:pPr algn="ctr"/>
                      <a:r>
                        <a:rPr sz="1300" b="0">
                          <a:solidFill>
                            <a:srgbClr val="222222"/>
                          </a:solidFill>
                          <a:latin typeface="Calibri"/>
                        </a:rPr>
                        <a:t>0.2008</a:t>
                      </a:r>
                    </a:p>
                  </a:txBody>
                  <a:tcPr marL="54864" marR="54864" marT="18288" marB="18288" anchor="ctr">
                    <a:solidFill>
                      <a:srgbClr val="F8F9FA"/>
                    </a:solidFill>
                  </a:tcPr>
                </a:tc>
                <a:tc>
                  <a:txBody>
                    <a:bodyPr/>
                    <a:lstStyle/>
                    <a:p>
                      <a:pPr algn="ctr"/>
                      <a:r>
                        <a:rPr sz="1300" b="0">
                          <a:solidFill>
                            <a:srgbClr val="222222"/>
                          </a:solidFill>
                          <a:latin typeface="Calibri"/>
                        </a:rPr>
                        <a:t>No</a:t>
                      </a:r>
                    </a:p>
                  </a:txBody>
                  <a:tcPr marL="54864" marR="54864" marT="18288" marB="18288" anchor="ctr">
                    <a:solidFill>
                      <a:srgbClr val="F8F9FA"/>
                    </a:solidFill>
                  </a:tcPr>
                </a:tc>
              </a:tr>
              <a:tr h="320040">
                <a:tc>
                  <a:txBody>
                    <a:bodyPr/>
                    <a:lstStyle/>
                    <a:p>
                      <a:pPr algn="l"/>
                      <a:r>
                        <a:rPr sz="1300" b="0">
                          <a:solidFill>
                            <a:srgbClr val="222222"/>
                          </a:solidFill>
                          <a:latin typeface="Calibri"/>
                        </a:rPr>
                        <a:t>PyTorch 1D-CNN</a:t>
                      </a:r>
                    </a:p>
                  </a:txBody>
                  <a:tcPr marL="54864" marR="54864" marT="18288" marB="18288" anchor="ctr">
                    <a:solidFill>
                      <a:srgbClr val="FFFFFF"/>
                    </a:solidFill>
                  </a:tcPr>
                </a:tc>
                <a:tc>
                  <a:txBody>
                    <a:bodyPr/>
                    <a:lstStyle/>
                    <a:p>
                      <a:pPr algn="ctr"/>
                      <a:r>
                        <a:rPr sz="1300" b="0">
                          <a:solidFill>
                            <a:srgbClr val="222222"/>
                          </a:solidFill>
                          <a:latin typeface="Calibri"/>
                        </a:rPr>
                        <a:t>2,373</a:t>
                      </a:r>
                    </a:p>
                  </a:txBody>
                  <a:tcPr marL="54864" marR="54864" marT="18288" marB="18288" anchor="ctr">
                    <a:solidFill>
                      <a:srgbClr val="FFFFFF"/>
                    </a:solidFill>
                  </a:tcPr>
                </a:tc>
                <a:tc>
                  <a:txBody>
                    <a:bodyPr/>
                    <a:lstStyle/>
                    <a:p>
                      <a:pPr algn="ctr"/>
                      <a:r>
                        <a:rPr sz="1300" b="0">
                          <a:solidFill>
                            <a:srgbClr val="222222"/>
                          </a:solidFill>
                          <a:latin typeface="Calibri"/>
                        </a:rPr>
                        <a:t>7.3x</a:t>
                      </a:r>
                    </a:p>
                  </a:txBody>
                  <a:tcPr marL="54864" marR="54864" marT="18288" marB="18288" anchor="ctr">
                    <a:solidFill>
                      <a:srgbClr val="FFFFFF"/>
                    </a:solidFill>
                  </a:tcPr>
                </a:tc>
                <a:tc>
                  <a:txBody>
                    <a:bodyPr/>
                    <a:lstStyle/>
                    <a:p>
                      <a:pPr algn="ctr"/>
                      <a:r>
                        <a:rPr sz="1300" b="0">
                          <a:solidFill>
                            <a:srgbClr val="222222"/>
                          </a:solidFill>
                          <a:latin typeface="Calibri"/>
                        </a:rPr>
                        <a:t>77.60%</a:t>
                      </a:r>
                    </a:p>
                  </a:txBody>
                  <a:tcPr marL="54864" marR="54864" marT="18288" marB="18288" anchor="ctr">
                    <a:solidFill>
                      <a:srgbClr val="FFFFFF"/>
                    </a:solidFill>
                  </a:tcPr>
                </a:tc>
                <a:tc>
                  <a:txBody>
                    <a:bodyPr/>
                    <a:lstStyle/>
                    <a:p>
                      <a:pPr algn="ctr"/>
                      <a:r>
                        <a:rPr sz="1300" b="0">
                          <a:solidFill>
                            <a:srgbClr val="222222"/>
                          </a:solidFill>
                          <a:latin typeface="Calibri"/>
                        </a:rPr>
                        <a:t>0.1997</a:t>
                      </a:r>
                    </a:p>
                  </a:txBody>
                  <a:tcPr marL="54864" marR="54864" marT="18288" marB="18288" anchor="ctr">
                    <a:solidFill>
                      <a:srgbClr val="FFFFFF"/>
                    </a:solidFill>
                  </a:tcPr>
                </a:tc>
                <a:tc>
                  <a:txBody>
                    <a:bodyPr/>
                    <a:lstStyle/>
                    <a:p>
                      <a:pPr algn="ctr"/>
                      <a:r>
                        <a:rPr sz="1300" b="0">
                          <a:solidFill>
                            <a:srgbClr val="222222"/>
                          </a:solidFill>
                          <a:latin typeface="Calibri"/>
                        </a:rPr>
                        <a:t>No</a:t>
                      </a:r>
                    </a:p>
                  </a:txBody>
                  <a:tcPr marL="54864" marR="54864" marT="18288" marB="18288" anchor="ctr">
                    <a:solidFill>
                      <a:srgbClr val="FFFFFF"/>
                    </a:solidFill>
                  </a:tcPr>
                </a:tc>
              </a:tr>
              <a:tr h="320040">
                <a:tc>
                  <a:txBody>
                    <a:bodyPr/>
                    <a:lstStyle/>
                    <a:p>
                      <a:pPr algn="l"/>
                      <a:r>
                        <a:rPr sz="1300" b="0">
                          <a:solidFill>
                            <a:srgbClr val="222222"/>
                          </a:solidFill>
                          <a:latin typeface="Calibri"/>
                        </a:rPr>
                        <a:t>PSO-FFNN (Base A)</a:t>
                      </a:r>
                    </a:p>
                  </a:txBody>
                  <a:tcPr marL="54864" marR="54864" marT="18288" marB="18288" anchor="ctr">
                    <a:solidFill>
                      <a:srgbClr val="F8F9FA"/>
                    </a:solidFill>
                  </a:tcPr>
                </a:tc>
                <a:tc>
                  <a:txBody>
                    <a:bodyPr/>
                    <a:lstStyle/>
                    <a:p>
                      <a:pPr algn="ctr"/>
                      <a:r>
                        <a:rPr sz="1300" b="0">
                          <a:solidFill>
                            <a:srgbClr val="222222"/>
                          </a:solidFill>
                          <a:latin typeface="Calibri"/>
                        </a:rPr>
                        <a:t>325</a:t>
                      </a:r>
                    </a:p>
                  </a:txBody>
                  <a:tcPr marL="54864" marR="54864" marT="18288" marB="18288" anchor="ctr">
                    <a:solidFill>
                      <a:srgbClr val="F8F9FA"/>
                    </a:solidFill>
                  </a:tcPr>
                </a:tc>
                <a:tc>
                  <a:txBody>
                    <a:bodyPr/>
                    <a:lstStyle/>
                    <a:p>
                      <a:pPr algn="ctr"/>
                      <a:r>
                        <a:rPr sz="1300" b="0">
                          <a:solidFill>
                            <a:srgbClr val="222222"/>
                          </a:solidFill>
                          <a:latin typeface="Calibri"/>
                        </a:rPr>
                        <a:t>1.0x</a:t>
                      </a:r>
                    </a:p>
                  </a:txBody>
                  <a:tcPr marL="54864" marR="54864" marT="18288" marB="18288" anchor="ctr">
                    <a:solidFill>
                      <a:srgbClr val="F8F9FA"/>
                    </a:solidFill>
                  </a:tcPr>
                </a:tc>
                <a:tc>
                  <a:txBody>
                    <a:bodyPr/>
                    <a:lstStyle/>
                    <a:p>
                      <a:pPr algn="ctr"/>
                      <a:r>
                        <a:rPr sz="1300" b="0">
                          <a:solidFill>
                            <a:srgbClr val="222222"/>
                          </a:solidFill>
                          <a:latin typeface="Calibri"/>
                        </a:rPr>
                        <a:t>74.90%</a:t>
                      </a:r>
                    </a:p>
                  </a:txBody>
                  <a:tcPr marL="54864" marR="54864" marT="18288" marB="18288" anchor="ctr">
                    <a:solidFill>
                      <a:srgbClr val="F8F9FA"/>
                    </a:solidFill>
                  </a:tcPr>
                </a:tc>
                <a:tc>
                  <a:txBody>
                    <a:bodyPr/>
                    <a:lstStyle/>
                    <a:p>
                      <a:pPr algn="ctr"/>
                      <a:r>
                        <a:rPr sz="1300" b="0">
                          <a:solidFill>
                            <a:srgbClr val="222222"/>
                          </a:solidFill>
                          <a:latin typeface="Calibri"/>
                        </a:rPr>
                        <a:t>0.3544</a:t>
                      </a:r>
                    </a:p>
                  </a:txBody>
                  <a:tcPr marL="54864" marR="54864" marT="18288" marB="18288" anchor="ctr">
                    <a:solidFill>
                      <a:srgbClr val="F8F9FA"/>
                    </a:solidFill>
                  </a:tcPr>
                </a:tc>
                <a:tc>
                  <a:txBody>
                    <a:bodyPr/>
                    <a:lstStyle/>
                    <a:p>
                      <a:pPr algn="ctr"/>
                      <a:r>
                        <a:rPr sz="1300" b="0">
                          <a:solidFill>
                            <a:srgbClr val="222222"/>
                          </a:solidFill>
                          <a:latin typeface="Calibri"/>
                        </a:rPr>
                        <a:t>No</a:t>
                      </a:r>
                    </a:p>
                  </a:txBody>
                  <a:tcPr marL="54864" marR="54864" marT="18288" marB="18288" anchor="ctr">
                    <a:solidFill>
                      <a:srgbClr val="F8F9FA"/>
                    </a:solidFill>
                  </a:tcPr>
                </a:tc>
              </a:tr>
              <a:tr h="320040">
                <a:tc>
                  <a:txBody>
                    <a:bodyPr/>
                    <a:lstStyle/>
                    <a:p>
                      <a:pPr algn="l"/>
                      <a:r>
                        <a:rPr sz="1300" b="0">
                          <a:solidFill>
                            <a:srgbClr val="222222"/>
                          </a:solidFill>
                          <a:latin typeface="Calibri"/>
                        </a:rPr>
                        <a:t>MOPSO-FFNN-AD (Ours C)</a:t>
                      </a:r>
                    </a:p>
                  </a:txBody>
                  <a:tcPr marL="54864" marR="54864" marT="18288" marB="18288" anchor="ctr">
                    <a:solidFill>
                      <a:srgbClr val="FFFFFF"/>
                    </a:solidFill>
                  </a:tcPr>
                </a:tc>
                <a:tc>
                  <a:txBody>
                    <a:bodyPr/>
                    <a:lstStyle/>
                    <a:p>
                      <a:pPr algn="ctr"/>
                      <a:r>
                        <a:rPr sz="1300" b="0">
                          <a:solidFill>
                            <a:srgbClr val="222222"/>
                          </a:solidFill>
                          <a:latin typeface="Calibri"/>
                        </a:rPr>
                        <a:t>325</a:t>
                      </a:r>
                    </a:p>
                  </a:txBody>
                  <a:tcPr marL="54864" marR="54864" marT="18288" marB="18288" anchor="ctr">
                    <a:solidFill>
                      <a:srgbClr val="FFFFFF"/>
                    </a:solidFill>
                  </a:tcPr>
                </a:tc>
                <a:tc>
                  <a:txBody>
                    <a:bodyPr/>
                    <a:lstStyle/>
                    <a:p>
                      <a:pPr algn="ctr"/>
                      <a:r>
                        <a:rPr sz="1300" b="0">
                          <a:solidFill>
                            <a:srgbClr val="222222"/>
                          </a:solidFill>
                          <a:latin typeface="Calibri"/>
                        </a:rPr>
                        <a:t>1.0x</a:t>
                      </a:r>
                    </a:p>
                  </a:txBody>
                  <a:tcPr marL="54864" marR="54864" marT="18288" marB="18288" anchor="ctr">
                    <a:solidFill>
                      <a:srgbClr val="FFFFFF"/>
                    </a:solidFill>
                  </a:tcPr>
                </a:tc>
                <a:tc>
                  <a:txBody>
                    <a:bodyPr/>
                    <a:lstStyle/>
                    <a:p>
                      <a:pPr algn="ctr"/>
                      <a:r>
                        <a:rPr sz="1300" b="0">
                          <a:solidFill>
                            <a:srgbClr val="222222"/>
                          </a:solidFill>
                          <a:latin typeface="Calibri"/>
                        </a:rPr>
                        <a:t>62.97%</a:t>
                      </a:r>
                    </a:p>
                  </a:txBody>
                  <a:tcPr marL="54864" marR="54864" marT="18288" marB="18288" anchor="ctr">
                    <a:solidFill>
                      <a:srgbClr val="FFFFFF"/>
                    </a:solidFill>
                  </a:tcPr>
                </a:tc>
                <a:tc>
                  <a:txBody>
                    <a:bodyPr/>
                    <a:lstStyle/>
                    <a:p>
                      <a:pPr algn="ctr"/>
                      <a:r>
                        <a:rPr sz="1300" b="0">
                          <a:solidFill>
                            <a:srgbClr val="222222"/>
                          </a:solidFill>
                          <a:latin typeface="Calibri"/>
                        </a:rPr>
                        <a:t>0.3816</a:t>
                      </a:r>
                    </a:p>
                  </a:txBody>
                  <a:tcPr marL="54864" marR="54864" marT="18288" marB="18288" anchor="ctr">
                    <a:solidFill>
                      <a:srgbClr val="FFFFFF"/>
                    </a:solidFill>
                  </a:tcPr>
                </a:tc>
                <a:tc>
                  <a:txBody>
                    <a:bodyPr/>
                    <a:lstStyle/>
                    <a:p>
                      <a:pPr algn="ctr"/>
                      <a:r>
                        <a:rPr sz="1300" b="0">
                          <a:solidFill>
                            <a:srgbClr val="222222"/>
                          </a:solidFill>
                          <a:latin typeface="Calibri"/>
                        </a:rPr>
                        <a:t>Yes</a:t>
                      </a:r>
                    </a:p>
                  </a:txBody>
                  <a:tcPr marL="54864" marR="54864" marT="18288" marB="18288" anchor="ctr">
                    <a:solidFill>
                      <a:srgbClr val="FFFFFF"/>
                    </a:solidFill>
                  </a:tcPr>
                </a:tc>
              </a:tr>
            </a:tbl>
          </a:graphicData>
        </a:graphic>
      </p:graphicFrame>
      <p:pic>
        <p:nvPicPr>
          <p:cNvPr id="8" name="Picture 7" descr="fig_inst2_dl_params_overhead.png"/>
          <p:cNvPicPr>
            <a:picLocks noChangeAspect="1"/>
          </p:cNvPicPr>
          <p:nvPr/>
        </p:nvPicPr>
        <p:blipFill>
          <a:blip r:embed="rId2"/>
          <a:stretch>
            <a:fillRect/>
          </a:stretch>
        </p:blipFill>
        <p:spPr>
          <a:xfrm>
            <a:off x="2705793" y="3246120"/>
            <a:ext cx="6749934" cy="2651760"/>
          </a:xfrm>
          <a:prstGeom prst="rect">
            <a:avLst/>
          </a:prstGeom>
        </p:spPr>
      </p:pic>
      <p:sp>
        <p:nvSpPr>
          <p:cNvPr id="9" name="Rounded Rectangle 8"/>
          <p:cNvSpPr/>
          <p:nvPr/>
        </p:nvSpPr>
        <p:spPr>
          <a:xfrm>
            <a:off x="640080" y="5989320"/>
            <a:ext cx="10881360" cy="502920"/>
          </a:xfrm>
          <a:prstGeom prst="roundRect">
            <a:avLst/>
          </a:prstGeom>
          <a:solidFill>
            <a:srgbClr val="FFFFFF"/>
          </a:solidFill>
          <a:ln w="15875">
            <a:solidFill>
              <a:srgbClr val="008080"/>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a:lstStyle/>
          <a:p>
            <a:pPr algn="ctr">
              <a:defRPr b="1" sz="1300">
                <a:solidFill>
                  <a:srgbClr val="008080"/>
                </a:solidFill>
              </a:defRPr>
            </a:pPr>
            <a:r>
              <a:t>Key Takeaway: </a:t>
            </a:r>
            <a:r>
              <a:rPr sz="1300">
                <a:solidFill>
                  <a:srgbClr val="222222"/>
                </a:solidFill>
              </a:rPr>
              <a:t>DL models are 7x to 56x larger and cannot adapt to concept drift; our model is compact and adaptive.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1B3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515600" cy="594360"/>
          </a:xfrm>
          <a:prstGeom prst="rect">
            <a:avLst/>
          </a:prstGeom>
          <a:noFill/>
        </p:spPr>
        <p:txBody>
          <a:bodyPr wrap="none">
            <a:spAutoFit/>
          </a:bodyPr>
          <a:lstStyle/>
          <a:p>
            <a:pPr>
              <a:defRPr sz="2600" b="1">
                <a:solidFill>
                  <a:srgbClr val="FFFFFF"/>
                </a:solidFill>
                <a:latin typeface="Calibri"/>
              </a:defRPr>
            </a:pPr>
            <a:r>
              <a:t>Policy Weight Ablation (Pareto Analysis)</a:t>
            </a:r>
          </a:p>
        </p:txBody>
      </p:sp>
      <p:sp>
        <p:nvSpPr>
          <p:cNvPr id="5" name="TextBox 4"/>
          <p:cNvSpPr txBox="1"/>
          <p:nvPr/>
        </p:nvSpPr>
        <p:spPr>
          <a:xfrm>
            <a:off x="457200" y="621792"/>
            <a:ext cx="10515600" cy="274320"/>
          </a:xfrm>
          <a:prstGeom prst="rect">
            <a:avLst/>
          </a:prstGeom>
          <a:noFill/>
        </p:spPr>
        <p:txBody>
          <a:bodyPr wrap="none">
            <a:spAutoFit/>
          </a:bodyPr>
          <a:lstStyle/>
          <a:p>
            <a:pPr>
              <a:defRPr sz="1300">
                <a:solidFill>
                  <a:srgbClr val="C9D6E6"/>
                </a:solidFill>
              </a:defRPr>
            </a:pPr>
            <a:r>
              <a:t>Slide 8 of 11</a:t>
            </a:r>
          </a:p>
        </p:txBody>
      </p:sp>
      <p:sp>
        <p:nvSpPr>
          <p:cNvPr id="6" name="Rectangle 5"/>
          <p:cNvSpPr/>
          <p:nvPr/>
        </p:nvSpPr>
        <p:spPr>
          <a:xfrm>
            <a:off x="0" y="960120"/>
            <a:ext cx="12191695" cy="50800"/>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143000"/>
            <a:ext cx="11247120" cy="1920240"/>
          </a:xfrm>
          <a:prstGeom prst="rect">
            <a:avLst/>
          </a:prstGeom>
          <a:noFill/>
        </p:spPr>
        <p:txBody>
          <a:bodyPr wrap="square">
            <a:spAutoFit/>
          </a:bodyPr>
          <a:lstStyle/>
          <a:p>
            <a:pPr>
              <a:spcAft>
                <a:spcPts val="1000"/>
              </a:spcAft>
              <a:defRPr sz="1600">
                <a:solidFill>
                  <a:srgbClr val="222222"/>
                </a:solidFill>
                <a:latin typeface="Calibri"/>
              </a:defRPr>
            </a:pPr>
            <a:r>
              <a:t>•  Default Balanced: 7 / 9 non-dominated choices</a:t>
            </a:r>
          </a:p>
          <a:p>
            <a:pPr>
              <a:spcAft>
                <a:spcPts val="1000"/>
              </a:spcAft>
              <a:defRPr sz="1600">
                <a:solidFill>
                  <a:srgbClr val="222222"/>
                </a:solidFill>
                <a:latin typeface="Calibri"/>
              </a:defRPr>
            </a:pPr>
            <a:r>
              <a:t>•  Accuracy-Critical (α=0.80): 5 / 2 choices, maximizes security precision</a:t>
            </a:r>
          </a:p>
          <a:p>
            <a:pPr>
              <a:spcAft>
                <a:spcPts val="1000"/>
              </a:spcAft>
              <a:defRPr sz="1600">
                <a:solidFill>
                  <a:srgbClr val="222222"/>
                </a:solidFill>
                <a:latin typeface="Calibri"/>
              </a:defRPr>
            </a:pPr>
            <a:r>
              <a:t>•  Bandwidth-Constrained (ε=0.50): 10 / 17 choices, minimizes OpenFlow messages</a:t>
            </a:r>
          </a:p>
          <a:p>
            <a:pPr>
              <a:spcAft>
                <a:spcPts val="1000"/>
              </a:spcAft>
              <a:defRPr sz="1600">
                <a:solidFill>
                  <a:srgbClr val="222222"/>
                </a:solidFill>
                <a:latin typeface="Calibri"/>
              </a:defRPr>
            </a:pPr>
            <a:r>
              <a:t>•  Latency-Sensitive (δ=0.50): 12 / 15 choices, lowest overhead F ≈ 0.36 - 0.42</a:t>
            </a:r>
          </a:p>
        </p:txBody>
      </p:sp>
      <p:pic>
        <p:nvPicPr>
          <p:cNvPr id="8" name="Picture 7" descr="fig_inst4_ablation_policy_bars.png"/>
          <p:cNvPicPr>
            <a:picLocks noChangeAspect="1"/>
          </p:cNvPicPr>
          <p:nvPr/>
        </p:nvPicPr>
        <p:blipFill>
          <a:blip r:embed="rId2"/>
          <a:stretch>
            <a:fillRect/>
          </a:stretch>
        </p:blipFill>
        <p:spPr>
          <a:xfrm>
            <a:off x="2589415" y="3154680"/>
            <a:ext cx="6982690" cy="2743200"/>
          </a:xfrm>
          <a:prstGeom prst="rect">
            <a:avLst/>
          </a:prstGeom>
        </p:spPr>
      </p:pic>
      <p:sp>
        <p:nvSpPr>
          <p:cNvPr id="9" name="Rounded Rectangle 8"/>
          <p:cNvSpPr/>
          <p:nvPr/>
        </p:nvSpPr>
        <p:spPr>
          <a:xfrm>
            <a:off x="640080" y="5989320"/>
            <a:ext cx="10881360" cy="502920"/>
          </a:xfrm>
          <a:prstGeom prst="roundRect">
            <a:avLst/>
          </a:prstGeom>
          <a:solidFill>
            <a:srgbClr val="FFFFFF"/>
          </a:solidFill>
          <a:ln w="15875">
            <a:solidFill>
              <a:srgbClr val="008080"/>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a:lstStyle/>
          <a:p>
            <a:pPr algn="ctr">
              <a:defRPr b="1" sz="1300">
                <a:solidFill>
                  <a:srgbClr val="008080"/>
                </a:solidFill>
              </a:defRPr>
            </a:pPr>
            <a:r>
              <a:t>Key Takeaway: </a:t>
            </a:r>
            <a:r>
              <a:rPr sz="1300">
                <a:solidFill>
                  <a:srgbClr val="222222"/>
                </a:solidFill>
              </a:rPr>
              <a:t>The SDN controller can dynamically shift operating points on the fly, without retraining the model.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1B3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515600" cy="594360"/>
          </a:xfrm>
          <a:prstGeom prst="rect">
            <a:avLst/>
          </a:prstGeom>
          <a:noFill/>
        </p:spPr>
        <p:txBody>
          <a:bodyPr wrap="none">
            <a:spAutoFit/>
          </a:bodyPr>
          <a:lstStyle/>
          <a:p>
            <a:pPr>
              <a:defRPr sz="2600" b="1">
                <a:solidFill>
                  <a:srgbClr val="FFFFFF"/>
                </a:solidFill>
                <a:latin typeface="Calibri"/>
              </a:defRPr>
            </a:pPr>
            <a:r>
              <a:t>Permutation Feature Importance Analysis</a:t>
            </a:r>
          </a:p>
        </p:txBody>
      </p:sp>
      <p:sp>
        <p:nvSpPr>
          <p:cNvPr id="5" name="TextBox 4"/>
          <p:cNvSpPr txBox="1"/>
          <p:nvPr/>
        </p:nvSpPr>
        <p:spPr>
          <a:xfrm>
            <a:off x="457200" y="621792"/>
            <a:ext cx="10515600" cy="274320"/>
          </a:xfrm>
          <a:prstGeom prst="rect">
            <a:avLst/>
          </a:prstGeom>
          <a:noFill/>
        </p:spPr>
        <p:txBody>
          <a:bodyPr wrap="none">
            <a:spAutoFit/>
          </a:bodyPr>
          <a:lstStyle/>
          <a:p>
            <a:pPr>
              <a:defRPr sz="1300">
                <a:solidFill>
                  <a:srgbClr val="C9D6E6"/>
                </a:solidFill>
              </a:defRPr>
            </a:pPr>
            <a:r>
              <a:t>Slide 9 of 11</a:t>
            </a:r>
          </a:p>
        </p:txBody>
      </p:sp>
      <p:sp>
        <p:nvSpPr>
          <p:cNvPr id="6" name="Rectangle 5"/>
          <p:cNvSpPr/>
          <p:nvPr/>
        </p:nvSpPr>
        <p:spPr>
          <a:xfrm>
            <a:off x="0" y="960120"/>
            <a:ext cx="12191695" cy="50800"/>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143000"/>
            <a:ext cx="11247120" cy="1554480"/>
          </a:xfrm>
          <a:prstGeom prst="rect">
            <a:avLst/>
          </a:prstGeom>
          <a:noFill/>
        </p:spPr>
        <p:txBody>
          <a:bodyPr wrap="square">
            <a:spAutoFit/>
          </a:bodyPr>
          <a:lstStyle/>
          <a:p>
            <a:pPr>
              <a:spcAft>
                <a:spcPts val="1000"/>
              </a:spcAft>
              <a:defRPr sz="1600">
                <a:solidFill>
                  <a:srgbClr val="222222"/>
                </a:solidFill>
                <a:latin typeface="Calibri"/>
              </a:defRPr>
            </a:pPr>
            <a:r>
              <a:t>•  ttl is Rank 1 on USTC malware — detects distant botnet command-and-control servers</a:t>
            </a:r>
          </a:p>
          <a:p>
            <a:pPr>
              <a:spcAft>
                <a:spcPts val="1000"/>
              </a:spcAft>
              <a:defRPr sz="1600">
                <a:solidFill>
                  <a:srgbClr val="222222"/>
                </a:solidFill>
                <a:latin typeface="Calibri"/>
              </a:defRPr>
            </a:pPr>
            <a:r>
              <a:t>•  inter_arrival_time is Rank 1 on ISCX encrypted traffic — separates chat pauses from video bursts</a:t>
            </a:r>
          </a:p>
          <a:p>
            <a:pPr>
              <a:spcAft>
                <a:spcPts val="1000"/>
              </a:spcAft>
              <a:defRPr sz="1600">
                <a:solidFill>
                  <a:srgbClr val="222222"/>
                </a:solidFill>
                <a:latin typeface="Calibri"/>
              </a:defRPr>
            </a:pPr>
            <a:r>
              <a:t>•  dst_port is near-zero everywhere — modern traffic multiplexes over port 443 (HTTPS)</a:t>
            </a:r>
          </a:p>
        </p:txBody>
      </p:sp>
      <p:pic>
        <p:nvPicPr>
          <p:cNvPr id="8" name="Picture 7" descr="fig_inst5_feature_importance_comparison.png"/>
          <p:cNvPicPr>
            <a:picLocks noChangeAspect="1"/>
          </p:cNvPicPr>
          <p:nvPr/>
        </p:nvPicPr>
        <p:blipFill>
          <a:blip r:embed="rId2"/>
          <a:stretch>
            <a:fillRect/>
          </a:stretch>
        </p:blipFill>
        <p:spPr>
          <a:xfrm>
            <a:off x="2667000" y="2697480"/>
            <a:ext cx="6827520" cy="2926080"/>
          </a:xfrm>
          <a:prstGeom prst="rect">
            <a:avLst/>
          </a:prstGeom>
        </p:spPr>
      </p:pic>
      <p:sp>
        <p:nvSpPr>
          <p:cNvPr id="9" name="Rounded Rectangle 8"/>
          <p:cNvSpPr/>
          <p:nvPr/>
        </p:nvSpPr>
        <p:spPr>
          <a:xfrm>
            <a:off x="640080" y="5989320"/>
            <a:ext cx="10881360" cy="502920"/>
          </a:xfrm>
          <a:prstGeom prst="roundRect">
            <a:avLst/>
          </a:prstGeom>
          <a:solidFill>
            <a:srgbClr val="FFFFFF"/>
          </a:solidFill>
          <a:ln w="15875">
            <a:solidFill>
              <a:srgbClr val="008080"/>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a:lstStyle/>
          <a:p>
            <a:pPr algn="ctr">
              <a:defRPr b="1" sz="1300">
                <a:solidFill>
                  <a:srgbClr val="008080"/>
                </a:solidFill>
              </a:defRPr>
            </a:pPr>
            <a:r>
              <a:t>Key Takeaway: </a:t>
            </a:r>
            <a:r>
              <a:rPr sz="1300">
                <a:solidFill>
                  <a:srgbClr val="222222"/>
                </a:solidFill>
              </a:rPr>
              <a:t>The network cares about timing and hop-distance, not port numbers, once traffic is encrypted.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1B3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515600" cy="594360"/>
          </a:xfrm>
          <a:prstGeom prst="rect">
            <a:avLst/>
          </a:prstGeom>
          <a:noFill/>
        </p:spPr>
        <p:txBody>
          <a:bodyPr wrap="none">
            <a:spAutoFit/>
          </a:bodyPr>
          <a:lstStyle/>
          <a:p>
            <a:pPr>
              <a:defRPr sz="2600" b="1">
                <a:solidFill>
                  <a:srgbClr val="FFFFFF"/>
                </a:solidFill>
                <a:latin typeface="Calibri"/>
              </a:defRPr>
            </a:pPr>
            <a:r>
              <a:t>Analytical Discussion (Features, Speed, QUIC)</a:t>
            </a:r>
          </a:p>
        </p:txBody>
      </p:sp>
      <p:sp>
        <p:nvSpPr>
          <p:cNvPr id="5" name="TextBox 4"/>
          <p:cNvSpPr txBox="1"/>
          <p:nvPr/>
        </p:nvSpPr>
        <p:spPr>
          <a:xfrm>
            <a:off x="457200" y="621792"/>
            <a:ext cx="10515600" cy="274320"/>
          </a:xfrm>
          <a:prstGeom prst="rect">
            <a:avLst/>
          </a:prstGeom>
          <a:noFill/>
        </p:spPr>
        <p:txBody>
          <a:bodyPr wrap="none">
            <a:spAutoFit/>
          </a:bodyPr>
          <a:lstStyle/>
          <a:p>
            <a:pPr>
              <a:defRPr sz="1300">
                <a:solidFill>
                  <a:srgbClr val="C9D6E6"/>
                </a:solidFill>
              </a:defRPr>
            </a:pPr>
            <a:r>
              <a:t>Slide 10 of 11</a:t>
            </a:r>
          </a:p>
        </p:txBody>
      </p:sp>
      <p:sp>
        <p:nvSpPr>
          <p:cNvPr id="6" name="Rectangle 5"/>
          <p:cNvSpPr/>
          <p:nvPr/>
        </p:nvSpPr>
        <p:spPr>
          <a:xfrm>
            <a:off x="0" y="960120"/>
            <a:ext cx="12191695" cy="50800"/>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143000"/>
            <a:ext cx="11247120" cy="1554480"/>
          </a:xfrm>
          <a:prstGeom prst="rect">
            <a:avLst/>
          </a:prstGeom>
          <a:noFill/>
        </p:spPr>
        <p:txBody>
          <a:bodyPr wrap="square">
            <a:spAutoFit/>
          </a:bodyPr>
          <a:lstStyle/>
          <a:p>
            <a:pPr>
              <a:spcAft>
                <a:spcPts val="1000"/>
              </a:spcAft>
              <a:defRPr sz="1600">
                <a:solidFill>
                  <a:srgbClr val="222222"/>
                </a:solidFill>
                <a:latin typeface="Calibri"/>
              </a:defRPr>
            </a:pPr>
            <a:r>
              <a:t>•  Statistical features vs raw bytes: privacy-preserving, works over encrypted payloads</a:t>
            </a:r>
          </a:p>
          <a:p>
            <a:pPr>
              <a:spcAft>
                <a:spcPts val="1000"/>
              </a:spcAft>
              <a:defRPr sz="1600">
                <a:solidFill>
                  <a:srgbClr val="222222"/>
                </a:solidFill>
                <a:latin typeface="Calibri"/>
              </a:defRPr>
            </a:pPr>
            <a:r>
              <a:t>•  Offline swarm training (~180 s) vs microsecond online inference (&lt; 0.4 ms)</a:t>
            </a:r>
          </a:p>
          <a:p>
            <a:pPr>
              <a:spcAft>
                <a:spcPts val="1000"/>
              </a:spcAft>
              <a:defRPr sz="1600">
                <a:solidFill>
                  <a:srgbClr val="222222"/>
                </a:solidFill>
                <a:latin typeface="Calibri"/>
              </a:defRPr>
            </a:pPr>
            <a:r>
              <a:t>•  Resilient to modern QUIC / TLS 1.3 encryption since it relies on timing, not headers</a:t>
            </a:r>
          </a:p>
        </p:txBody>
      </p:sp>
      <p:pic>
        <p:nvPicPr>
          <p:cNvPr id="8" name="Picture 7" descr="fig_inst7_discussion_tradeoffs.png"/>
          <p:cNvPicPr>
            <a:picLocks noChangeAspect="1"/>
          </p:cNvPicPr>
          <p:nvPr/>
        </p:nvPicPr>
        <p:blipFill>
          <a:blip r:embed="rId2"/>
          <a:stretch>
            <a:fillRect/>
          </a:stretch>
        </p:blipFill>
        <p:spPr>
          <a:xfrm>
            <a:off x="4572000" y="2651760"/>
            <a:ext cx="3017520" cy="3017520"/>
          </a:xfrm>
          <a:prstGeom prst="rect">
            <a:avLst/>
          </a:prstGeom>
        </p:spPr>
      </p:pic>
      <p:sp>
        <p:nvSpPr>
          <p:cNvPr id="9" name="Rounded Rectangle 8"/>
          <p:cNvSpPr/>
          <p:nvPr/>
        </p:nvSpPr>
        <p:spPr>
          <a:xfrm>
            <a:off x="640080" y="5989320"/>
            <a:ext cx="10881360" cy="502920"/>
          </a:xfrm>
          <a:prstGeom prst="roundRect">
            <a:avLst/>
          </a:prstGeom>
          <a:solidFill>
            <a:srgbClr val="FFFFFF"/>
          </a:solidFill>
          <a:ln w="15875">
            <a:solidFill>
              <a:srgbClr val="008080"/>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73152"/>
          <a:lstStyle/>
          <a:p>
            <a:pPr algn="ctr">
              <a:defRPr b="1" sz="1300">
                <a:solidFill>
                  <a:srgbClr val="008080"/>
                </a:solidFill>
              </a:defRPr>
            </a:pPr>
            <a:r>
              <a:t>Key Takeaway: </a:t>
            </a:r>
            <a:r>
              <a:rPr sz="1300">
                <a:solidFill>
                  <a:srgbClr val="222222"/>
                </a:solidFill>
              </a:rPr>
              <a:t>Our approach trades a little raw accuracy for privacy, speed, and drift resilience that deep learning cannot match.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1B3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09728"/>
            <a:ext cx="10515600" cy="594360"/>
          </a:xfrm>
          <a:prstGeom prst="rect">
            <a:avLst/>
          </a:prstGeom>
          <a:noFill/>
        </p:spPr>
        <p:txBody>
          <a:bodyPr wrap="none">
            <a:spAutoFit/>
          </a:bodyPr>
          <a:lstStyle/>
          <a:p>
            <a:pPr>
              <a:defRPr sz="2600" b="1">
                <a:solidFill>
                  <a:srgbClr val="FFFFFF"/>
                </a:solidFill>
                <a:latin typeface="Calibri"/>
              </a:defRPr>
            </a:pPr>
            <a:r>
              <a:t>Concept Drift Adaptation &amp; Review-2 Conclusion</a:t>
            </a:r>
          </a:p>
        </p:txBody>
      </p:sp>
      <p:sp>
        <p:nvSpPr>
          <p:cNvPr id="5" name="TextBox 4"/>
          <p:cNvSpPr txBox="1"/>
          <p:nvPr/>
        </p:nvSpPr>
        <p:spPr>
          <a:xfrm>
            <a:off x="457200" y="621792"/>
            <a:ext cx="10515600" cy="274320"/>
          </a:xfrm>
          <a:prstGeom prst="rect">
            <a:avLst/>
          </a:prstGeom>
          <a:noFill/>
        </p:spPr>
        <p:txBody>
          <a:bodyPr wrap="none">
            <a:spAutoFit/>
          </a:bodyPr>
          <a:lstStyle/>
          <a:p>
            <a:pPr>
              <a:defRPr sz="1300">
                <a:solidFill>
                  <a:srgbClr val="C9D6E6"/>
                </a:solidFill>
              </a:defRPr>
            </a:pPr>
            <a:r>
              <a:t>Slide 11 of 11</a:t>
            </a:r>
          </a:p>
        </p:txBody>
      </p:sp>
      <p:sp>
        <p:nvSpPr>
          <p:cNvPr id="6" name="Rectangle 5"/>
          <p:cNvSpPr/>
          <p:nvPr/>
        </p:nvSpPr>
        <p:spPr>
          <a:xfrm>
            <a:off x="0" y="960120"/>
            <a:ext cx="12191695" cy="50800"/>
          </a:xfrm>
          <a:prstGeom prst="rect">
            <a:avLst/>
          </a:prstGeom>
          <a:solidFill>
            <a:srgbClr val="0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80160"/>
            <a:ext cx="10515600" cy="4114800"/>
          </a:xfrm>
          <a:prstGeom prst="rect">
            <a:avLst/>
          </a:prstGeom>
          <a:noFill/>
        </p:spPr>
        <p:txBody>
          <a:bodyPr wrap="square">
            <a:spAutoFit/>
          </a:bodyPr>
          <a:lstStyle/>
          <a:p>
            <a:pPr>
              <a:spcAft>
                <a:spcPts val="1000"/>
              </a:spcAft>
              <a:defRPr sz="1900">
                <a:solidFill>
                  <a:srgbClr val="222222"/>
                </a:solidFill>
                <a:latin typeface="Calibri"/>
              </a:defRPr>
            </a:pPr>
            <a:r>
              <a:t>•  Page-Hinkley detector alerts within &lt; 150 flows of a traffic shift</a:t>
            </a:r>
          </a:p>
          <a:p>
            <a:pPr>
              <a:spcAft>
                <a:spcPts val="1000"/>
              </a:spcAft>
              <a:defRPr sz="1900">
                <a:solidFill>
                  <a:srgbClr val="222222"/>
                </a:solidFill>
                <a:latin typeface="Calibri"/>
              </a:defRPr>
            </a:pPr>
            <a:r>
              <a:t>•  Warm-restart MOPSO re-optimizes and re-converges in &lt; 2.5 seconds</a:t>
            </a:r>
          </a:p>
          <a:p>
            <a:pPr>
              <a:spcAft>
                <a:spcPts val="1000"/>
              </a:spcAft>
              <a:defRPr sz="1900">
                <a:solidFill>
                  <a:srgbClr val="222222"/>
                </a:solidFill>
                <a:latin typeface="Calibri"/>
              </a:defRPr>
            </a:pPr>
            <a:r>
              <a:t>•  Evaluated on real ISCX &amp; USTC benchmarks with 10-fold CV and p-values</a:t>
            </a:r>
          </a:p>
          <a:p>
            <a:pPr>
              <a:spcAft>
                <a:spcPts val="1000"/>
              </a:spcAft>
              <a:defRPr sz="1900">
                <a:solidFill>
                  <a:srgbClr val="222222"/>
                </a:solidFill>
                <a:latin typeface="Calibri"/>
              </a:defRPr>
            </a:pPr>
            <a:r>
              <a:t>•  3 DL baselines, 3-policy ablation, feature importance, all delivered</a:t>
            </a:r>
          </a:p>
          <a:p>
            <a:pPr>
              <a:spcAft>
                <a:spcPts val="1000"/>
              </a:spcAft>
              <a:defRPr sz="1900">
                <a:solidFill>
                  <a:srgbClr val="222222"/>
                </a:solidFill>
                <a:latin typeface="Calibri"/>
              </a:defRPr>
            </a:pPr>
            <a:r>
              <a:t>•  13/13 automated unit tests passed — zero data fabrication, zero data leakage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