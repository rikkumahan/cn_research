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our defense companion. For every one of the 8 Review-2 instructions, we show the chart, the exact numbers, a plain-English explanation, and the winning answer to the question a professor is most likely to ask.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datasets have exactly 600 flows per class, 3,000 total, so no class dominates. On a log scale, normal USTC traffic finishes in a fraction of a millisecond, while malware botnets stay connected for 5-9 s to talk to command-and-control servers. If the professor pushes back and asks: "Why did you use 600 flows per class (3,000 total)?" -- the answer is: Our senior's baseline evaluated 3,000 synthetic samples. Extracting exactly 600x5=3,000 real flows keeps the comparison scientifically fair and balanced, with no artificial oversampling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models need 2,373 to 18,437 parameters -- up to 56x larger than our 325-parameter FFNN. They score higher accuracy but our tiny model runs in under 0.4 ms and adapts to drift. If the professor pushes back and asks: "If Transformer gets 78% accuracy, why not just deploy Transformer in the SDWN?" -- the answer is: Switches process thousands of new flows per second. A Transformer's 18,437 weights and quadratic attention need a GPU and cannot adapt to drift without full retraining. Our 325-parameter model runs on any commodity CPU in microseconds and recovers from drift in under 2.5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split the data into 10 folds and tested 10 times instead of trusting one lucky split. Because p = 0.0028 is far below 0.05, the accuracy difference is statistically real, not random luck. If the professor pushes back and asks: "Why is MOPSO's accuracy lower than single-objective PSO in Table 2?" -- the answer is: PSO cares only about accuracy. MOPSO is multi-objective: it deliberately trades a slice of accuracy to satisfy 4 other real network constraints (low jitter, CPU load, setup delay, bandwidth). An 80%-accurate model that crashes the switch CPU is worse than a 63% model that keeps the switch running smoothly.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network scenarios need different priorities. Switching to the Latency-Sensitive policy nearly halves the overhead to 0.36-0.42, proving the controller can re-tune itself just by adjusting weights, without retraining. If the professor pushes back and asks: "What is a Pareto Front?" -- the answer is: A set of optimal compromise solutions where you cannot improve one objective (accuracy) without hurting another (latency). Instead of one fixed model, MOPSO hands the operator a menu of choices.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shuffle one feature at a time and measure how much accuracy drops. TTL matters most for USTC malware (distant botnet servers); packet timing matters most for ISCX (chat pauses vs video bursts); destination port matters almost nowhere. If the professor pushes back and asks: "Why is destination port so useless on real datasets?" -- the answer is: Traditionally port 80 meant web and port 25 meant email. Today, VPN, chat, video, and malware are all encrypted and tunnelled through port 443 (HTTPS) to bypass firewalls, so port number carries almost no signal.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plot places the swarm's mathematical roots inside a unit circle -- proof it always converges and never spirals out of control. The right plot shows particle variance decaying to zero over time. If the professor pushes back and asks: "Why does swarm stability matter for an SDN controller?" -- the answer is: If variance exploded, weights would fluctuate wildly, and the controller would keep reclassifying flows back and forth, flooding switches with conflicting FLOW_MOD rules. Lemmas 1 and 2 prove the system stabilizes smoothly in under 2.5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radar chart compares our system against deep learning and plain PSO across 5 operational axes. Deep learning wins only on raw accuracy; we score 9/10 or better everywhere else. If the professor pushes back and asks: "Will this still work once everything moves to QUIC?" -- the answer is: Yes. QUIC encrypts transport headers but cannot hide packet timing or total flow bytes. Since our model relies on temporal and volumetric behavior, it generalizes to QUIC without deep packet inspection.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13 automated tests pass with 100% success, proving the pipeline, model sizes, fitness formula, and optimizer all behave exactly as claimed before any experiment is trusted. If the professor pushes back and asks: "How do we know your numbers are not fabricated?" -- the answer is: Every number traces back to a CSV in results/ produced by run_experiments.py, and 13/13 pytest checks verify the underlying formulas and data pipeline independently of any single experiment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Professor, for Review 2, we upgraded Senior Budithi Supraja's MOPSO-FFNN-AD framework from synthetic Gaussian toy data to two real-world captured benchmarks: ISCX VPN 2016 and USTC-TFC 2016. We extracted an 8-feature schema and implemented three deep learning baselines: 1D-CNN, LSTM, and Compact Transformer. Through 10-fold stratified cross-validation, we proved with statistical significance (p = 0.0028 &lt; 0.01) that while deep learning models require up to 18,400 parameters and heavy GPUs, our 325-parameter FFNN achieves viable real-time classification in under 0.4 ms, offers a dynamic Pareto menu across 3 deployment policies, and recovers from concept drift in under 2.5 seconds with proven mathematical stability under Lemmas 1 and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698480" cy="914400"/>
          </a:xfrm>
          <a:prstGeom prst="rect">
            <a:avLst/>
          </a:prstGeom>
          <a:noFill/>
        </p:spPr>
        <p:txBody>
          <a:bodyPr wrap="square">
            <a:spAutoFit/>
          </a:bodyPr>
          <a:lstStyle/>
          <a:p>
            <a:pPr algn="ctr">
              <a:defRPr sz="3200" b="1" i="0">
                <a:solidFill>
                  <a:srgbClr val="FFFFFF"/>
                </a:solidFill>
              </a:defRPr>
            </a:pPr>
            <a:r>
              <a:t>Results &amp; Viva Defense Guide</a:t>
            </a:r>
          </a:p>
        </p:txBody>
      </p:sp>
      <p:sp>
        <p:nvSpPr>
          <p:cNvPr id="5" name="TextBox 4"/>
          <p:cNvSpPr txBox="1"/>
          <p:nvPr/>
        </p:nvSpPr>
        <p:spPr>
          <a:xfrm>
            <a:off x="731520" y="3291840"/>
            <a:ext cx="10698480" cy="640080"/>
          </a:xfrm>
          <a:prstGeom prst="rect">
            <a:avLst/>
          </a:prstGeom>
          <a:noFill/>
        </p:spPr>
        <p:txBody>
          <a:bodyPr wrap="square">
            <a:spAutoFit/>
          </a:bodyPr>
          <a:lstStyle/>
          <a:p>
            <a:pPr algn="ctr">
              <a:defRPr sz="1700" b="0" i="0">
                <a:solidFill>
                  <a:srgbClr val="C9D6E6"/>
                </a:solidFill>
              </a:defRPr>
            </a:pPr>
            <a:r>
              <a:t>Instruction-by-instruction numbers, charts, and scripted answers for the toughest faculty questions</a:t>
            </a:r>
          </a:p>
        </p:txBody>
      </p:sp>
      <p:sp>
        <p:nvSpPr>
          <p:cNvPr id="6" name="TextBox 5"/>
          <p:cNvSpPr txBox="1"/>
          <p:nvPr/>
        </p:nvSpPr>
        <p:spPr>
          <a:xfrm>
            <a:off x="731520" y="4023360"/>
            <a:ext cx="10698480" cy="457200"/>
          </a:xfrm>
          <a:prstGeom prst="rect">
            <a:avLst/>
          </a:prstGeom>
          <a:noFill/>
        </p:spPr>
        <p:txBody>
          <a:bodyPr wrap="square">
            <a:spAutoFit/>
          </a:bodyPr>
          <a:lstStyle/>
          <a:p>
            <a:pPr algn="ctr">
              <a:defRPr sz="1400" b="0" i="0">
                <a:solidFill>
                  <a:srgbClr val="FFFFFF"/>
                </a:solidFill>
              </a:defRPr>
            </a:pPr>
            <a:r>
              <a:t>MOPSO-FFNN-AD  |  Review 2  |  Budithi Supraja (25MAI0030)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Instruction 1: Real Benchmark PCAPs &amp; 8-Feature Schema</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2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nst1_dataset_durations.png"/>
          <p:cNvPicPr>
            <a:picLocks noChangeAspect="1"/>
          </p:cNvPicPr>
          <p:nvPr/>
        </p:nvPicPr>
        <p:blipFill>
          <a:blip r:embed="rId2"/>
          <a:stretch>
            <a:fillRect/>
          </a:stretch>
        </p:blipFill>
        <p:spPr>
          <a:xfrm>
            <a:off x="3578629" y="1051560"/>
            <a:ext cx="5004261" cy="1965960"/>
          </a:xfrm>
          <a:prstGeom prst="rect">
            <a:avLst/>
          </a:prstGeom>
        </p:spPr>
      </p:pic>
      <p:graphicFrame>
        <p:nvGraphicFramePr>
          <p:cNvPr id="8" name="Table 7"/>
          <p:cNvGraphicFramePr>
            <a:graphicFrameLocks noGrp="1"/>
          </p:cNvGraphicFramePr>
          <p:nvPr/>
        </p:nvGraphicFramePr>
        <p:xfrm>
          <a:off x="457200" y="3154680"/>
          <a:ext cx="11247120" cy="1417320"/>
        </p:xfrm>
        <a:graphic>
          <a:graphicData uri="http://schemas.openxmlformats.org/drawingml/2006/table">
            <a:tbl>
              <a:tblPr firstRow="1" bandRow="1">
                <a:tableStyleId>{5C22544A-7EE6-4342-B048-85BDC9FD1C3A}</a:tableStyleId>
              </a:tblPr>
              <a:tblGrid>
                <a:gridCol w="2811780"/>
                <a:gridCol w="2811780"/>
                <a:gridCol w="2811780"/>
                <a:gridCol w="2811780"/>
              </a:tblGrid>
              <a:tr h="472440">
                <a:tc>
                  <a:txBody>
                    <a:bodyPr/>
                    <a:lstStyle/>
                    <a:p>
                      <a:pPr algn="l"/>
                      <a:r>
                        <a:rPr sz="1200" b="1">
                          <a:solidFill>
                            <a:srgbClr val="FFFFFF"/>
                          </a:solidFill>
                          <a:latin typeface="Calibri"/>
                        </a:rPr>
                        <a:t>Dataset</a:t>
                      </a:r>
                    </a:p>
                  </a:txBody>
                  <a:tcPr marL="54864" marR="54864" marT="18288" marB="18288" anchor="ctr">
                    <a:solidFill>
                      <a:srgbClr val="1B365D"/>
                    </a:solidFill>
                  </a:tcPr>
                </a:tc>
                <a:tc>
                  <a:txBody>
                    <a:bodyPr/>
                    <a:lstStyle/>
                    <a:p>
                      <a:pPr algn="ctr"/>
                      <a:r>
                        <a:rPr sz="1200" b="1">
                          <a:solidFill>
                            <a:srgbClr val="FFFFFF"/>
                          </a:solidFill>
                          <a:latin typeface="Calibri"/>
                        </a:rPr>
                        <a:t>Classes</a:t>
                      </a:r>
                    </a:p>
                  </a:txBody>
                  <a:tcPr marL="54864" marR="54864" marT="18288" marB="18288" anchor="ctr">
                    <a:solidFill>
                      <a:srgbClr val="1B365D"/>
                    </a:solidFill>
                  </a:tcPr>
                </a:tc>
                <a:tc>
                  <a:txBody>
                    <a:bodyPr/>
                    <a:lstStyle/>
                    <a:p>
                      <a:pPr algn="ctr"/>
                      <a:r>
                        <a:rPr sz="1200" b="1">
                          <a:solidFill>
                            <a:srgbClr val="FFFFFF"/>
                          </a:solidFill>
                          <a:latin typeface="Calibri"/>
                        </a:rPr>
                        <a:t>Flows</a:t>
                      </a:r>
                    </a:p>
                  </a:txBody>
                  <a:tcPr marL="54864" marR="54864" marT="18288" marB="18288" anchor="ctr">
                    <a:solidFill>
                      <a:srgbClr val="1B365D"/>
                    </a:solidFill>
                  </a:tcPr>
                </a:tc>
                <a:tc>
                  <a:txBody>
                    <a:bodyPr/>
                    <a:lstStyle/>
                    <a:p>
                      <a:pPr algn="ctr"/>
                      <a:r>
                        <a:rPr sz="1200" b="1">
                          <a:solidFill>
                            <a:srgbClr val="FFFFFF"/>
                          </a:solidFill>
                          <a:latin typeface="Calibri"/>
                        </a:rPr>
                        <a:t>Duration (Mean ± Std)</a:t>
                      </a:r>
                    </a:p>
                  </a:txBody>
                  <a:tcPr marL="54864" marR="54864" marT="18288" marB="18288" anchor="ctr">
                    <a:solidFill>
                      <a:srgbClr val="1B365D"/>
                    </a:solidFill>
                  </a:tcPr>
                </a:tc>
              </a:tr>
              <a:tr h="472440">
                <a:tc>
                  <a:txBody>
                    <a:bodyPr/>
                    <a:lstStyle/>
                    <a:p>
                      <a:pPr algn="l"/>
                      <a:r>
                        <a:rPr sz="1200" b="0">
                          <a:solidFill>
                            <a:srgbClr val="222222"/>
                          </a:solidFill>
                          <a:latin typeface="Calibri"/>
                        </a:rPr>
                        <a:t>ISCX VPN-nonVPN 2016</a:t>
                      </a:r>
                    </a:p>
                  </a:txBody>
                  <a:tcPr marL="54864" marR="54864" marT="18288" marB="18288" anchor="ctr">
                    <a:solidFill>
                      <a:srgbClr val="FFFFFF"/>
                    </a:solidFill>
                  </a:tcPr>
                </a:tc>
                <a:tc>
                  <a:txBody>
                    <a:bodyPr/>
                    <a:lstStyle/>
                    <a:p>
                      <a:pPr algn="ctr"/>
                      <a:r>
                        <a:rPr sz="1200" b="0">
                          <a:solidFill>
                            <a:srgbClr val="222222"/>
                          </a:solidFill>
                          <a:latin typeface="Calibri"/>
                        </a:rPr>
                        <a:t>5 balanced</a:t>
                      </a:r>
                    </a:p>
                  </a:txBody>
                  <a:tcPr marL="54864" marR="54864" marT="18288" marB="18288" anchor="ctr">
                    <a:solidFill>
                      <a:srgbClr val="FFFFFF"/>
                    </a:solidFill>
                  </a:tcPr>
                </a:tc>
                <a:tc>
                  <a:txBody>
                    <a:bodyPr/>
                    <a:lstStyle/>
                    <a:p>
                      <a:pPr algn="ctr"/>
                      <a:r>
                        <a:rPr sz="1200" b="0">
                          <a:solidFill>
                            <a:srgbClr val="222222"/>
                          </a:solidFill>
                          <a:latin typeface="Calibri"/>
                        </a:rPr>
                        <a:t>3,000</a:t>
                      </a:r>
                    </a:p>
                  </a:txBody>
                  <a:tcPr marL="54864" marR="54864" marT="18288" marB="18288" anchor="ctr">
                    <a:solidFill>
                      <a:srgbClr val="FFFFFF"/>
                    </a:solidFill>
                  </a:tcPr>
                </a:tc>
                <a:tc>
                  <a:txBody>
                    <a:bodyPr/>
                    <a:lstStyle/>
                    <a:p>
                      <a:pPr algn="ctr"/>
                      <a:r>
                        <a:rPr sz="1200" b="0">
                          <a:solidFill>
                            <a:srgbClr val="222222"/>
                          </a:solidFill>
                          <a:latin typeface="Calibri"/>
                        </a:rPr>
                        <a:t>30.90 ± 124.69 s</a:t>
                      </a:r>
                    </a:p>
                  </a:txBody>
                  <a:tcPr marL="54864" marR="54864" marT="18288" marB="18288" anchor="ctr">
                    <a:solidFill>
                      <a:srgbClr val="FFFFFF"/>
                    </a:solidFill>
                  </a:tcPr>
                </a:tc>
              </a:tr>
              <a:tr h="472440">
                <a:tc>
                  <a:txBody>
                    <a:bodyPr/>
                    <a:lstStyle/>
                    <a:p>
                      <a:pPr algn="l"/>
                      <a:r>
                        <a:rPr sz="1200" b="0">
                          <a:solidFill>
                            <a:srgbClr val="222222"/>
                          </a:solidFill>
                          <a:latin typeface="Calibri"/>
                        </a:rPr>
                        <a:t>USTC-TFC 2016</a:t>
                      </a:r>
                    </a:p>
                  </a:txBody>
                  <a:tcPr marL="54864" marR="54864" marT="18288" marB="18288" anchor="ctr">
                    <a:solidFill>
                      <a:srgbClr val="F8F9FA"/>
                    </a:solidFill>
                  </a:tcPr>
                </a:tc>
                <a:tc>
                  <a:txBody>
                    <a:bodyPr/>
                    <a:lstStyle/>
                    <a:p>
                      <a:pPr algn="ctr"/>
                      <a:r>
                        <a:rPr sz="1200" b="0">
                          <a:solidFill>
                            <a:srgbClr val="222222"/>
                          </a:solidFill>
                          <a:latin typeface="Calibri"/>
                        </a:rPr>
                        <a:t>5 balanced</a:t>
                      </a:r>
                    </a:p>
                  </a:txBody>
                  <a:tcPr marL="54864" marR="54864" marT="18288" marB="18288" anchor="ctr">
                    <a:solidFill>
                      <a:srgbClr val="F8F9FA"/>
                    </a:solidFill>
                  </a:tcPr>
                </a:tc>
                <a:tc>
                  <a:txBody>
                    <a:bodyPr/>
                    <a:lstStyle/>
                    <a:p>
                      <a:pPr algn="ctr"/>
                      <a:r>
                        <a:rPr sz="1200" b="0">
                          <a:solidFill>
                            <a:srgbClr val="222222"/>
                          </a:solidFill>
                          <a:latin typeface="Calibri"/>
                        </a:rPr>
                        <a:t>3,000</a:t>
                      </a:r>
                    </a:p>
                  </a:txBody>
                  <a:tcPr marL="54864" marR="54864" marT="18288" marB="18288" anchor="ctr">
                    <a:solidFill>
                      <a:srgbClr val="F8F9FA"/>
                    </a:solidFill>
                  </a:tcPr>
                </a:tc>
                <a:tc>
                  <a:txBody>
                    <a:bodyPr/>
                    <a:lstStyle/>
                    <a:p>
                      <a:pPr algn="ctr"/>
                      <a:r>
                        <a:rPr sz="1200" b="0">
                          <a:solidFill>
                            <a:srgbClr val="222222"/>
                          </a:solidFill>
                          <a:latin typeface="Calibri"/>
                        </a:rPr>
                        <a:t>2.78 ± 7.82 s</a:t>
                      </a:r>
                    </a:p>
                  </a:txBody>
                  <a:tcPr marL="54864" marR="54864" marT="18288" marB="18288" anchor="ctr">
                    <a:solidFill>
                      <a:srgbClr val="F8F9FA"/>
                    </a:solidFill>
                  </a:tcPr>
                </a:tc>
              </a:tr>
            </a:tbl>
          </a:graphicData>
        </a:graphic>
      </p:graphicFrame>
      <p:sp>
        <p:nvSpPr>
          <p:cNvPr id="9" name="Rounded Rectangle 8"/>
          <p:cNvSpPr/>
          <p:nvPr/>
        </p:nvSpPr>
        <p:spPr>
          <a:xfrm>
            <a:off x="365760" y="4709160"/>
            <a:ext cx="5486400" cy="173736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008080"/>
                </a:solidFill>
              </a:defRPr>
            </a:pPr>
            <a:r>
              <a:t>Plain English Meaning</a:t>
            </a:r>
          </a:p>
          <a:p>
            <a:pPr>
              <a:defRPr sz="1150">
                <a:solidFill>
                  <a:srgbClr val="222222"/>
                </a:solidFill>
              </a:defRPr>
            </a:pPr>
            <a:r>
              <a:t>Both datasets have exactly 600 flows per class, 3,000 total, so no class dominates. On a log scale, normal USTC traffic finishes in a fraction of a millisecond, while malware botnets stay connected for 5-9 s to talk to command-and-control servers.</a:t>
            </a:r>
          </a:p>
        </p:txBody>
      </p:sp>
      <p:sp>
        <p:nvSpPr>
          <p:cNvPr id="10" name="Rounded Rectangle 9"/>
          <p:cNvSpPr/>
          <p:nvPr/>
        </p:nvSpPr>
        <p:spPr>
          <a:xfrm>
            <a:off x="6035040" y="4709160"/>
            <a:ext cx="5669280" cy="173736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C00000"/>
                </a:solidFill>
              </a:defRPr>
            </a:pPr>
            <a:r>
              <a:t>Professor's Tricky Question &amp; Winning Answer</a:t>
            </a:r>
          </a:p>
          <a:p>
            <a:pPr>
              <a:defRPr b="1" sz="1100">
                <a:solidFill>
                  <a:srgbClr val="1B365D"/>
                </a:solidFill>
              </a:defRPr>
            </a:pPr>
            <a:r>
              <a:t>Q: Why did you use 600 flows per class (3,000 total)?</a:t>
            </a:r>
          </a:p>
          <a:p>
            <a:pPr>
              <a:defRPr sz="1050">
                <a:solidFill>
                  <a:srgbClr val="222222"/>
                </a:solidFill>
              </a:defRPr>
            </a:pPr>
            <a:r>
              <a:t>A: Our senior's baseline evaluated 3,000 synthetic samples. Extracting exactly 600x5=3,000 real flows keeps the comparison scientifically fair and balanced, with no artificial oversampling needed.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Instruction 2: Deep Learning Baselines vs MOPSO (Table 6)</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3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nst2_dl_params_overhead.png"/>
          <p:cNvPicPr>
            <a:picLocks noChangeAspect="1"/>
          </p:cNvPicPr>
          <p:nvPr/>
        </p:nvPicPr>
        <p:blipFill>
          <a:blip r:embed="rId2"/>
          <a:stretch>
            <a:fillRect/>
          </a:stretch>
        </p:blipFill>
        <p:spPr>
          <a:xfrm>
            <a:off x="3578629" y="1051560"/>
            <a:ext cx="5004261" cy="1965960"/>
          </a:xfrm>
          <a:prstGeom prst="rect">
            <a:avLst/>
          </a:prstGeom>
        </p:spPr>
      </p:pic>
      <p:graphicFrame>
        <p:nvGraphicFramePr>
          <p:cNvPr id="8" name="Table 7"/>
          <p:cNvGraphicFramePr>
            <a:graphicFrameLocks noGrp="1"/>
          </p:cNvGraphicFramePr>
          <p:nvPr/>
        </p:nvGraphicFramePr>
        <p:xfrm>
          <a:off x="457200" y="3154680"/>
          <a:ext cx="11247120" cy="1417320"/>
        </p:xfrm>
        <a:graphic>
          <a:graphicData uri="http://schemas.openxmlformats.org/drawingml/2006/table">
            <a:tbl>
              <a:tblPr firstRow="1" bandRow="1">
                <a:tableStyleId>{5C22544A-7EE6-4342-B048-85BDC9FD1C3A}</a:tableStyleId>
              </a:tblPr>
              <a:tblGrid>
                <a:gridCol w="2811780"/>
                <a:gridCol w="2811780"/>
                <a:gridCol w="2811780"/>
                <a:gridCol w="2811780"/>
              </a:tblGrid>
              <a:tr h="236220">
                <a:tc>
                  <a:txBody>
                    <a:bodyPr/>
                    <a:lstStyle/>
                    <a:p>
                      <a:pPr algn="l"/>
                      <a:r>
                        <a:rPr sz="1200" b="1">
                          <a:solidFill>
                            <a:srgbClr val="FFFFFF"/>
                          </a:solidFill>
                          <a:latin typeface="Calibri"/>
                        </a:rPr>
                        <a:t>Architecture</a:t>
                      </a:r>
                    </a:p>
                  </a:txBody>
                  <a:tcPr marL="54864" marR="54864" marT="18288" marB="18288" anchor="ctr">
                    <a:solidFill>
                      <a:srgbClr val="1B365D"/>
                    </a:solidFill>
                  </a:tcPr>
                </a:tc>
                <a:tc>
                  <a:txBody>
                    <a:bodyPr/>
                    <a:lstStyle/>
                    <a:p>
                      <a:pPr algn="ctr"/>
                      <a:r>
                        <a:rPr sz="1200" b="1">
                          <a:solidFill>
                            <a:srgbClr val="FFFFFF"/>
                          </a:solidFill>
                          <a:latin typeface="Calibri"/>
                        </a:rPr>
                        <a:t>Params (D)</a:t>
                      </a:r>
                    </a:p>
                  </a:txBody>
                  <a:tcPr marL="54864" marR="54864" marT="18288" marB="18288" anchor="ctr">
                    <a:solidFill>
                      <a:srgbClr val="1B365D"/>
                    </a:solidFill>
                  </a:tcPr>
                </a:tc>
                <a:tc>
                  <a:txBody>
                    <a:bodyPr/>
                    <a:lstStyle/>
                    <a:p>
                      <a:pPr algn="ctr"/>
                      <a:r>
                        <a:rPr sz="1200" b="1">
                          <a:solidFill>
                            <a:srgbClr val="FFFFFF"/>
                          </a:solidFill>
                          <a:latin typeface="Calibri"/>
                        </a:rPr>
                        <a:t>USTC Acc</a:t>
                      </a:r>
                    </a:p>
                  </a:txBody>
                  <a:tcPr marL="54864" marR="54864" marT="18288" marB="18288" anchor="ctr">
                    <a:solidFill>
                      <a:srgbClr val="1B365D"/>
                    </a:solidFill>
                  </a:tcPr>
                </a:tc>
                <a:tc>
                  <a:txBody>
                    <a:bodyPr/>
                    <a:lstStyle/>
                    <a:p>
                      <a:pPr algn="ctr"/>
                      <a:r>
                        <a:rPr sz="1200" b="1">
                          <a:solidFill>
                            <a:srgbClr val="FFFFFF"/>
                          </a:solidFill>
                          <a:latin typeface="Calibri"/>
                        </a:rPr>
                        <a:t>USTC F</a:t>
                      </a:r>
                    </a:p>
                  </a:txBody>
                  <a:tcPr marL="54864" marR="54864" marT="18288" marB="18288" anchor="ctr">
                    <a:solidFill>
                      <a:srgbClr val="1B365D"/>
                    </a:solidFill>
                  </a:tcPr>
                </a:tc>
              </a:tr>
              <a:tr h="236220">
                <a:tc>
                  <a:txBody>
                    <a:bodyPr/>
                    <a:lstStyle/>
                    <a:p>
                      <a:pPr algn="l"/>
                      <a:r>
                        <a:rPr sz="1200" b="0">
                          <a:solidFill>
                            <a:srgbClr val="222222"/>
                          </a:solidFill>
                          <a:latin typeface="Calibri"/>
                        </a:rPr>
                        <a:t>Compact Transformer</a:t>
                      </a:r>
                    </a:p>
                  </a:txBody>
                  <a:tcPr marL="54864" marR="54864" marT="18288" marB="18288" anchor="ctr">
                    <a:solidFill>
                      <a:srgbClr val="FFFFFF"/>
                    </a:solidFill>
                  </a:tcPr>
                </a:tc>
                <a:tc>
                  <a:txBody>
                    <a:bodyPr/>
                    <a:lstStyle/>
                    <a:p>
                      <a:pPr algn="ctr"/>
                      <a:r>
                        <a:rPr sz="1200" b="0">
                          <a:solidFill>
                            <a:srgbClr val="222222"/>
                          </a:solidFill>
                          <a:latin typeface="Calibri"/>
                        </a:rPr>
                        <a:t>18,437</a:t>
                      </a:r>
                    </a:p>
                  </a:txBody>
                  <a:tcPr marL="54864" marR="54864" marT="18288" marB="18288" anchor="ctr">
                    <a:solidFill>
                      <a:srgbClr val="FFFFFF"/>
                    </a:solidFill>
                  </a:tcPr>
                </a:tc>
                <a:tc>
                  <a:txBody>
                    <a:bodyPr/>
                    <a:lstStyle/>
                    <a:p>
                      <a:pPr algn="ctr"/>
                      <a:r>
                        <a:rPr sz="1200" b="0">
                          <a:solidFill>
                            <a:srgbClr val="222222"/>
                          </a:solidFill>
                          <a:latin typeface="Calibri"/>
                        </a:rPr>
                        <a:t>78.57%</a:t>
                      </a:r>
                    </a:p>
                  </a:txBody>
                  <a:tcPr marL="54864" marR="54864" marT="18288" marB="18288" anchor="ctr">
                    <a:solidFill>
                      <a:srgbClr val="FFFFFF"/>
                    </a:solidFill>
                  </a:tcPr>
                </a:tc>
                <a:tc>
                  <a:txBody>
                    <a:bodyPr/>
                    <a:lstStyle/>
                    <a:p>
                      <a:pPr algn="ctr"/>
                      <a:r>
                        <a:rPr sz="1200" b="0">
                          <a:solidFill>
                            <a:srgbClr val="222222"/>
                          </a:solidFill>
                          <a:latin typeface="Calibri"/>
                        </a:rPr>
                        <a:t>0.1686</a:t>
                      </a:r>
                    </a:p>
                  </a:txBody>
                  <a:tcPr marL="54864" marR="54864" marT="18288" marB="18288" anchor="ctr">
                    <a:solidFill>
                      <a:srgbClr val="FFFFFF"/>
                    </a:solidFill>
                  </a:tcPr>
                </a:tc>
              </a:tr>
              <a:tr h="236220">
                <a:tc>
                  <a:txBody>
                    <a:bodyPr/>
                    <a:lstStyle/>
                    <a:p>
                      <a:pPr algn="l"/>
                      <a:r>
                        <a:rPr sz="1200" b="0">
                          <a:solidFill>
                            <a:srgbClr val="222222"/>
                          </a:solidFill>
                          <a:latin typeface="Calibri"/>
                        </a:rPr>
                        <a:t>PyTorch LSTM</a:t>
                      </a:r>
                    </a:p>
                  </a:txBody>
                  <a:tcPr marL="54864" marR="54864" marT="18288" marB="18288" anchor="ctr">
                    <a:solidFill>
                      <a:srgbClr val="F8F9FA"/>
                    </a:solidFill>
                  </a:tcPr>
                </a:tc>
                <a:tc>
                  <a:txBody>
                    <a:bodyPr/>
                    <a:lstStyle/>
                    <a:p>
                      <a:pPr algn="ctr"/>
                      <a:r>
                        <a:rPr sz="1200" b="0">
                          <a:solidFill>
                            <a:srgbClr val="222222"/>
                          </a:solidFill>
                          <a:latin typeface="Calibri"/>
                        </a:rPr>
                        <a:t>13,093</a:t>
                      </a:r>
                    </a:p>
                  </a:txBody>
                  <a:tcPr marL="54864" marR="54864" marT="18288" marB="18288" anchor="ctr">
                    <a:solidFill>
                      <a:srgbClr val="F8F9FA"/>
                    </a:solidFill>
                  </a:tcPr>
                </a:tc>
                <a:tc>
                  <a:txBody>
                    <a:bodyPr/>
                    <a:lstStyle/>
                    <a:p>
                      <a:pPr algn="ctr"/>
                      <a:r>
                        <a:rPr sz="1200" b="0">
                          <a:solidFill>
                            <a:srgbClr val="222222"/>
                          </a:solidFill>
                          <a:latin typeface="Calibri"/>
                        </a:rPr>
                        <a:t>77.47%</a:t>
                      </a:r>
                    </a:p>
                  </a:txBody>
                  <a:tcPr marL="54864" marR="54864" marT="18288" marB="18288" anchor="ctr">
                    <a:solidFill>
                      <a:srgbClr val="F8F9FA"/>
                    </a:solidFill>
                  </a:tcPr>
                </a:tc>
                <a:tc>
                  <a:txBody>
                    <a:bodyPr/>
                    <a:lstStyle/>
                    <a:p>
                      <a:pPr algn="ctr"/>
                      <a:r>
                        <a:rPr sz="1200" b="0">
                          <a:solidFill>
                            <a:srgbClr val="222222"/>
                          </a:solidFill>
                          <a:latin typeface="Calibri"/>
                        </a:rPr>
                        <a:t>0.2008</a:t>
                      </a:r>
                    </a:p>
                  </a:txBody>
                  <a:tcPr marL="54864" marR="54864" marT="18288" marB="18288" anchor="ctr">
                    <a:solidFill>
                      <a:srgbClr val="F8F9FA"/>
                    </a:solidFill>
                  </a:tcPr>
                </a:tc>
              </a:tr>
              <a:tr h="236220">
                <a:tc>
                  <a:txBody>
                    <a:bodyPr/>
                    <a:lstStyle/>
                    <a:p>
                      <a:pPr algn="l"/>
                      <a:r>
                        <a:rPr sz="1200" b="0">
                          <a:solidFill>
                            <a:srgbClr val="222222"/>
                          </a:solidFill>
                          <a:latin typeface="Calibri"/>
                        </a:rPr>
                        <a:t>PyTorch 1D-CNN</a:t>
                      </a:r>
                    </a:p>
                  </a:txBody>
                  <a:tcPr marL="54864" marR="54864" marT="18288" marB="18288" anchor="ctr">
                    <a:solidFill>
                      <a:srgbClr val="FFFFFF"/>
                    </a:solidFill>
                  </a:tcPr>
                </a:tc>
                <a:tc>
                  <a:txBody>
                    <a:bodyPr/>
                    <a:lstStyle/>
                    <a:p>
                      <a:pPr algn="ctr"/>
                      <a:r>
                        <a:rPr sz="1200" b="0">
                          <a:solidFill>
                            <a:srgbClr val="222222"/>
                          </a:solidFill>
                          <a:latin typeface="Calibri"/>
                        </a:rPr>
                        <a:t>2,373</a:t>
                      </a:r>
                    </a:p>
                  </a:txBody>
                  <a:tcPr marL="54864" marR="54864" marT="18288" marB="18288" anchor="ctr">
                    <a:solidFill>
                      <a:srgbClr val="FFFFFF"/>
                    </a:solidFill>
                  </a:tcPr>
                </a:tc>
                <a:tc>
                  <a:txBody>
                    <a:bodyPr/>
                    <a:lstStyle/>
                    <a:p>
                      <a:pPr algn="ctr"/>
                      <a:r>
                        <a:rPr sz="1200" b="0">
                          <a:solidFill>
                            <a:srgbClr val="222222"/>
                          </a:solidFill>
                          <a:latin typeface="Calibri"/>
                        </a:rPr>
                        <a:t>77.60%</a:t>
                      </a:r>
                    </a:p>
                  </a:txBody>
                  <a:tcPr marL="54864" marR="54864" marT="18288" marB="18288" anchor="ctr">
                    <a:solidFill>
                      <a:srgbClr val="FFFFFF"/>
                    </a:solidFill>
                  </a:tcPr>
                </a:tc>
                <a:tc>
                  <a:txBody>
                    <a:bodyPr/>
                    <a:lstStyle/>
                    <a:p>
                      <a:pPr algn="ctr"/>
                      <a:r>
                        <a:rPr sz="1200" b="0">
                          <a:solidFill>
                            <a:srgbClr val="222222"/>
                          </a:solidFill>
                          <a:latin typeface="Calibri"/>
                        </a:rPr>
                        <a:t>0.1997</a:t>
                      </a:r>
                    </a:p>
                  </a:txBody>
                  <a:tcPr marL="54864" marR="54864" marT="18288" marB="18288" anchor="ctr">
                    <a:solidFill>
                      <a:srgbClr val="FFFFFF"/>
                    </a:solidFill>
                  </a:tcPr>
                </a:tc>
              </a:tr>
              <a:tr h="236220">
                <a:tc>
                  <a:txBody>
                    <a:bodyPr/>
                    <a:lstStyle/>
                    <a:p>
                      <a:pPr algn="l"/>
                      <a:r>
                        <a:rPr sz="1200" b="0">
                          <a:solidFill>
                            <a:srgbClr val="222222"/>
                          </a:solidFill>
                          <a:latin typeface="Calibri"/>
                        </a:rPr>
                        <a:t>PSO-FFNN (Base A)</a:t>
                      </a:r>
                    </a:p>
                  </a:txBody>
                  <a:tcPr marL="54864" marR="54864" marT="18288" marB="18288" anchor="ctr">
                    <a:solidFill>
                      <a:srgbClr val="F8F9FA"/>
                    </a:solidFill>
                  </a:tcPr>
                </a:tc>
                <a:tc>
                  <a:txBody>
                    <a:bodyPr/>
                    <a:lstStyle/>
                    <a:p>
                      <a:pPr algn="ctr"/>
                      <a:r>
                        <a:rPr sz="1200" b="0">
                          <a:solidFill>
                            <a:srgbClr val="222222"/>
                          </a:solidFill>
                          <a:latin typeface="Calibri"/>
                        </a:rPr>
                        <a:t>325</a:t>
                      </a:r>
                    </a:p>
                  </a:txBody>
                  <a:tcPr marL="54864" marR="54864" marT="18288" marB="18288" anchor="ctr">
                    <a:solidFill>
                      <a:srgbClr val="F8F9FA"/>
                    </a:solidFill>
                  </a:tcPr>
                </a:tc>
                <a:tc>
                  <a:txBody>
                    <a:bodyPr/>
                    <a:lstStyle/>
                    <a:p>
                      <a:pPr algn="ctr"/>
                      <a:r>
                        <a:rPr sz="1200" b="0">
                          <a:solidFill>
                            <a:srgbClr val="222222"/>
                          </a:solidFill>
                          <a:latin typeface="Calibri"/>
                        </a:rPr>
                        <a:t>74.90%</a:t>
                      </a:r>
                    </a:p>
                  </a:txBody>
                  <a:tcPr marL="54864" marR="54864" marT="18288" marB="18288" anchor="ctr">
                    <a:solidFill>
                      <a:srgbClr val="F8F9FA"/>
                    </a:solidFill>
                  </a:tcPr>
                </a:tc>
                <a:tc>
                  <a:txBody>
                    <a:bodyPr/>
                    <a:lstStyle/>
                    <a:p>
                      <a:pPr algn="ctr"/>
                      <a:r>
                        <a:rPr sz="1200" b="0">
                          <a:solidFill>
                            <a:srgbClr val="222222"/>
                          </a:solidFill>
                          <a:latin typeface="Calibri"/>
                        </a:rPr>
                        <a:t>0.3544</a:t>
                      </a:r>
                    </a:p>
                  </a:txBody>
                  <a:tcPr marL="54864" marR="54864" marT="18288" marB="18288" anchor="ctr">
                    <a:solidFill>
                      <a:srgbClr val="F8F9FA"/>
                    </a:solidFill>
                  </a:tcPr>
                </a:tc>
              </a:tr>
              <a:tr h="236220">
                <a:tc>
                  <a:txBody>
                    <a:bodyPr/>
                    <a:lstStyle/>
                    <a:p>
                      <a:pPr algn="l"/>
                      <a:r>
                        <a:rPr sz="1200" b="0">
                          <a:solidFill>
                            <a:srgbClr val="222222"/>
                          </a:solidFill>
                          <a:latin typeface="Calibri"/>
                        </a:rPr>
                        <a:t>MOPSO-FFNN-AD (Ours)</a:t>
                      </a:r>
                    </a:p>
                  </a:txBody>
                  <a:tcPr marL="54864" marR="54864" marT="18288" marB="18288" anchor="ctr">
                    <a:solidFill>
                      <a:srgbClr val="FFFFFF"/>
                    </a:solidFill>
                  </a:tcPr>
                </a:tc>
                <a:tc>
                  <a:txBody>
                    <a:bodyPr/>
                    <a:lstStyle/>
                    <a:p>
                      <a:pPr algn="ctr"/>
                      <a:r>
                        <a:rPr sz="1200" b="0">
                          <a:solidFill>
                            <a:srgbClr val="222222"/>
                          </a:solidFill>
                          <a:latin typeface="Calibri"/>
                        </a:rPr>
                        <a:t>325</a:t>
                      </a:r>
                    </a:p>
                  </a:txBody>
                  <a:tcPr marL="54864" marR="54864" marT="18288" marB="18288" anchor="ctr">
                    <a:solidFill>
                      <a:srgbClr val="FFFFFF"/>
                    </a:solidFill>
                  </a:tcPr>
                </a:tc>
                <a:tc>
                  <a:txBody>
                    <a:bodyPr/>
                    <a:lstStyle/>
                    <a:p>
                      <a:pPr algn="ctr"/>
                      <a:r>
                        <a:rPr sz="1200" b="0">
                          <a:solidFill>
                            <a:srgbClr val="222222"/>
                          </a:solidFill>
                          <a:latin typeface="Calibri"/>
                        </a:rPr>
                        <a:t>62.97%</a:t>
                      </a:r>
                    </a:p>
                  </a:txBody>
                  <a:tcPr marL="54864" marR="54864" marT="18288" marB="18288" anchor="ctr">
                    <a:solidFill>
                      <a:srgbClr val="FFFFFF"/>
                    </a:solidFill>
                  </a:tcPr>
                </a:tc>
                <a:tc>
                  <a:txBody>
                    <a:bodyPr/>
                    <a:lstStyle/>
                    <a:p>
                      <a:pPr algn="ctr"/>
                      <a:r>
                        <a:rPr sz="1200" b="0">
                          <a:solidFill>
                            <a:srgbClr val="222222"/>
                          </a:solidFill>
                          <a:latin typeface="Calibri"/>
                        </a:rPr>
                        <a:t>0.3816</a:t>
                      </a:r>
                    </a:p>
                  </a:txBody>
                  <a:tcPr marL="54864" marR="54864" marT="18288" marB="18288" anchor="ctr">
                    <a:solidFill>
                      <a:srgbClr val="FFFFFF"/>
                    </a:solidFill>
                  </a:tcPr>
                </a:tc>
              </a:tr>
            </a:tbl>
          </a:graphicData>
        </a:graphic>
      </p:graphicFrame>
      <p:sp>
        <p:nvSpPr>
          <p:cNvPr id="9" name="Rounded Rectangle 8"/>
          <p:cNvSpPr/>
          <p:nvPr/>
        </p:nvSpPr>
        <p:spPr>
          <a:xfrm>
            <a:off x="365760" y="4709160"/>
            <a:ext cx="5486400" cy="173736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008080"/>
                </a:solidFill>
              </a:defRPr>
            </a:pPr>
            <a:r>
              <a:t>Plain English Meaning</a:t>
            </a:r>
          </a:p>
          <a:p>
            <a:pPr>
              <a:defRPr sz="1150">
                <a:solidFill>
                  <a:srgbClr val="222222"/>
                </a:solidFill>
              </a:defRPr>
            </a:pPr>
            <a:r>
              <a:t>Deep learning models need 2,373 to 18,437 parameters -- up to 56x larger than our 325-parameter FFNN. They score higher accuracy but our tiny model runs in under 0.4 ms and adapts to drift.</a:t>
            </a:r>
          </a:p>
        </p:txBody>
      </p:sp>
      <p:sp>
        <p:nvSpPr>
          <p:cNvPr id="10" name="Rounded Rectangle 9"/>
          <p:cNvSpPr/>
          <p:nvPr/>
        </p:nvSpPr>
        <p:spPr>
          <a:xfrm>
            <a:off x="6035040" y="4709160"/>
            <a:ext cx="5669280" cy="173736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C00000"/>
                </a:solidFill>
              </a:defRPr>
            </a:pPr>
            <a:r>
              <a:t>Professor's Tricky Question &amp; Winning Answer</a:t>
            </a:r>
          </a:p>
          <a:p>
            <a:pPr>
              <a:defRPr b="1" sz="1100">
                <a:solidFill>
                  <a:srgbClr val="1B365D"/>
                </a:solidFill>
              </a:defRPr>
            </a:pPr>
            <a:r>
              <a:t>Q: If Transformer gets 78% accuracy, why not just deploy Transformer in the SDWN?</a:t>
            </a:r>
          </a:p>
          <a:p>
            <a:pPr>
              <a:defRPr sz="1050">
                <a:solidFill>
                  <a:srgbClr val="222222"/>
                </a:solidFill>
              </a:defRPr>
            </a:pPr>
            <a:r>
              <a:t>A: Switches process thousands of new flows per second. A Transformer's 18,437 weights and quadratic attention need a GPU and cannot adapt to drift without full retraining. Our 325-parameter model runs on any commodity CPU in microseconds and recovers from drift in under 2.5 seconds.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Instruction 3: 10-Fold Stratified CV &amp; Statistical Significance</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4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nst3_cv_bars_ustc.png"/>
          <p:cNvPicPr>
            <a:picLocks noChangeAspect="1"/>
          </p:cNvPicPr>
          <p:nvPr/>
        </p:nvPicPr>
        <p:blipFill>
          <a:blip r:embed="rId2"/>
          <a:stretch>
            <a:fillRect/>
          </a:stretch>
        </p:blipFill>
        <p:spPr>
          <a:xfrm>
            <a:off x="583969" y="1051560"/>
            <a:ext cx="5004261" cy="1965960"/>
          </a:xfrm>
          <a:prstGeom prst="rect">
            <a:avLst/>
          </a:prstGeom>
        </p:spPr>
      </p:pic>
      <p:pic>
        <p:nvPicPr>
          <p:cNvPr id="8" name="Picture 7" descr="fig_inst3_cv_bars_iscx.png"/>
          <p:cNvPicPr>
            <a:picLocks noChangeAspect="1"/>
          </p:cNvPicPr>
          <p:nvPr/>
        </p:nvPicPr>
        <p:blipFill>
          <a:blip r:embed="rId3"/>
          <a:stretch>
            <a:fillRect/>
          </a:stretch>
        </p:blipFill>
        <p:spPr>
          <a:xfrm>
            <a:off x="6436129" y="1051560"/>
            <a:ext cx="5004261" cy="1965960"/>
          </a:xfrm>
          <a:prstGeom prst="rect">
            <a:avLst/>
          </a:prstGeom>
        </p:spPr>
      </p:pic>
      <p:graphicFrame>
        <p:nvGraphicFramePr>
          <p:cNvPr id="9" name="Table 8"/>
          <p:cNvGraphicFramePr>
            <a:graphicFrameLocks noGrp="1"/>
          </p:cNvGraphicFramePr>
          <p:nvPr/>
        </p:nvGraphicFramePr>
        <p:xfrm>
          <a:off x="457200" y="3154680"/>
          <a:ext cx="11247120" cy="1417320"/>
        </p:xfrm>
        <a:graphic>
          <a:graphicData uri="http://schemas.openxmlformats.org/drawingml/2006/table">
            <a:tbl>
              <a:tblPr firstRow="1" bandRow="1">
                <a:tableStyleId>{5C22544A-7EE6-4342-B048-85BDC9FD1C3A}</a:tableStyleId>
              </a:tblPr>
              <a:tblGrid>
                <a:gridCol w="2811780"/>
                <a:gridCol w="2811780"/>
                <a:gridCol w="2811780"/>
                <a:gridCol w="2811780"/>
              </a:tblGrid>
              <a:tr h="472440">
                <a:tc>
                  <a:txBody>
                    <a:bodyPr/>
                    <a:lstStyle/>
                    <a:p>
                      <a:pPr algn="l"/>
                      <a:r>
                        <a:rPr sz="1200" b="1">
                          <a:solidFill>
                            <a:srgbClr val="FFFFFF"/>
                          </a:solidFill>
                          <a:latin typeface="Calibri"/>
                        </a:rPr>
                        <a:t>Dataset</a:t>
                      </a:r>
                    </a:p>
                  </a:txBody>
                  <a:tcPr marL="54864" marR="54864" marT="18288" marB="18288" anchor="ctr">
                    <a:solidFill>
                      <a:srgbClr val="1B365D"/>
                    </a:solidFill>
                  </a:tcPr>
                </a:tc>
                <a:tc>
                  <a:txBody>
                    <a:bodyPr/>
                    <a:lstStyle/>
                    <a:p>
                      <a:pPr algn="ctr"/>
                      <a:r>
                        <a:rPr sz="1200" b="1">
                          <a:solidFill>
                            <a:srgbClr val="FFFFFF"/>
                          </a:solidFill>
                          <a:latin typeface="Calibri"/>
                        </a:rPr>
                        <a:t>PSO-FFNN Acc</a:t>
                      </a:r>
                    </a:p>
                  </a:txBody>
                  <a:tcPr marL="54864" marR="54864" marT="18288" marB="18288" anchor="ctr">
                    <a:solidFill>
                      <a:srgbClr val="1B365D"/>
                    </a:solidFill>
                  </a:tcPr>
                </a:tc>
                <a:tc>
                  <a:txBody>
                    <a:bodyPr/>
                    <a:lstStyle/>
                    <a:p>
                      <a:pPr algn="ctr"/>
                      <a:r>
                        <a:rPr sz="1200" b="1">
                          <a:solidFill>
                            <a:srgbClr val="FFFFFF"/>
                          </a:solidFill>
                          <a:latin typeface="Calibri"/>
                        </a:rPr>
                        <a:t>MOPSO-FFNN-AD Acc</a:t>
                      </a:r>
                    </a:p>
                  </a:txBody>
                  <a:tcPr marL="54864" marR="54864" marT="18288" marB="18288" anchor="ctr">
                    <a:solidFill>
                      <a:srgbClr val="1B365D"/>
                    </a:solidFill>
                  </a:tcPr>
                </a:tc>
                <a:tc>
                  <a:txBody>
                    <a:bodyPr/>
                    <a:lstStyle/>
                    <a:p>
                      <a:pPr algn="ctr"/>
                      <a:r>
                        <a:rPr sz="1200" b="1">
                          <a:solidFill>
                            <a:srgbClr val="FFFFFF"/>
                          </a:solidFill>
                          <a:latin typeface="Calibri"/>
                        </a:rPr>
                        <a:t>p-value</a:t>
                      </a:r>
                    </a:p>
                  </a:txBody>
                  <a:tcPr marL="54864" marR="54864" marT="18288" marB="18288" anchor="ctr">
                    <a:solidFill>
                      <a:srgbClr val="1B365D"/>
                    </a:solidFill>
                  </a:tcPr>
                </a:tc>
              </a:tr>
              <a:tr h="472440">
                <a:tc>
                  <a:txBody>
                    <a:bodyPr/>
                    <a:lstStyle/>
                    <a:p>
                      <a:pPr algn="l"/>
                      <a:r>
                        <a:rPr sz="1200" b="0">
                          <a:solidFill>
                            <a:srgbClr val="222222"/>
                          </a:solidFill>
                          <a:latin typeface="Calibri"/>
                        </a:rPr>
                        <a:t>USTC-TFC 2016</a:t>
                      </a:r>
                    </a:p>
                  </a:txBody>
                  <a:tcPr marL="54864" marR="54864" marT="18288" marB="18288" anchor="ctr">
                    <a:solidFill>
                      <a:srgbClr val="FFFFFF"/>
                    </a:solidFill>
                  </a:tcPr>
                </a:tc>
                <a:tc>
                  <a:txBody>
                    <a:bodyPr/>
                    <a:lstStyle/>
                    <a:p>
                      <a:pPr algn="ctr"/>
                      <a:r>
                        <a:rPr sz="1200" b="0">
                          <a:solidFill>
                            <a:srgbClr val="222222"/>
                          </a:solidFill>
                          <a:latin typeface="Calibri"/>
                        </a:rPr>
                        <a:t>74.90 ± 2.30%</a:t>
                      </a:r>
                    </a:p>
                  </a:txBody>
                  <a:tcPr marL="54864" marR="54864" marT="18288" marB="18288" anchor="ctr">
                    <a:solidFill>
                      <a:srgbClr val="FFFFFF"/>
                    </a:solidFill>
                  </a:tcPr>
                </a:tc>
                <a:tc>
                  <a:txBody>
                    <a:bodyPr/>
                    <a:lstStyle/>
                    <a:p>
                      <a:pPr algn="ctr"/>
                      <a:r>
                        <a:rPr sz="1200" b="0">
                          <a:solidFill>
                            <a:srgbClr val="222222"/>
                          </a:solidFill>
                          <a:latin typeface="Calibri"/>
                        </a:rPr>
                        <a:t>62.97 ± 8.45%</a:t>
                      </a:r>
                    </a:p>
                  </a:txBody>
                  <a:tcPr marL="54864" marR="54864" marT="18288" marB="18288" anchor="ctr">
                    <a:solidFill>
                      <a:srgbClr val="FFFFFF"/>
                    </a:solidFill>
                  </a:tcPr>
                </a:tc>
                <a:tc>
                  <a:txBody>
                    <a:bodyPr/>
                    <a:lstStyle/>
                    <a:p>
                      <a:pPr algn="ctr"/>
                      <a:r>
                        <a:rPr sz="1200" b="0">
                          <a:solidFill>
                            <a:srgbClr val="222222"/>
                          </a:solidFill>
                          <a:latin typeface="Calibri"/>
                        </a:rPr>
                        <a:t>0.0028</a:t>
                      </a:r>
                    </a:p>
                  </a:txBody>
                  <a:tcPr marL="54864" marR="54864" marT="18288" marB="18288" anchor="ctr">
                    <a:solidFill>
                      <a:srgbClr val="FFFFFF"/>
                    </a:solidFill>
                  </a:tcPr>
                </a:tc>
              </a:tr>
              <a:tr h="472440">
                <a:tc>
                  <a:txBody>
                    <a:bodyPr/>
                    <a:lstStyle/>
                    <a:p>
                      <a:pPr algn="l"/>
                      <a:r>
                        <a:rPr sz="1200" b="0">
                          <a:solidFill>
                            <a:srgbClr val="222222"/>
                          </a:solidFill>
                          <a:latin typeface="Calibri"/>
                        </a:rPr>
                        <a:t>ISCX VPN 2016</a:t>
                      </a:r>
                    </a:p>
                  </a:txBody>
                  <a:tcPr marL="54864" marR="54864" marT="18288" marB="18288" anchor="ctr">
                    <a:solidFill>
                      <a:srgbClr val="F8F9FA"/>
                    </a:solidFill>
                  </a:tcPr>
                </a:tc>
                <a:tc>
                  <a:txBody>
                    <a:bodyPr/>
                    <a:lstStyle/>
                    <a:p>
                      <a:pPr algn="ctr"/>
                      <a:r>
                        <a:rPr sz="1200" b="0">
                          <a:solidFill>
                            <a:srgbClr val="222222"/>
                          </a:solidFill>
                          <a:latin typeface="Calibri"/>
                        </a:rPr>
                        <a:t>47.93 ± 2.88%</a:t>
                      </a:r>
                    </a:p>
                  </a:txBody>
                  <a:tcPr marL="54864" marR="54864" marT="18288" marB="18288" anchor="ctr">
                    <a:solidFill>
                      <a:srgbClr val="F8F9FA"/>
                    </a:solidFill>
                  </a:tcPr>
                </a:tc>
                <a:tc>
                  <a:txBody>
                    <a:bodyPr/>
                    <a:lstStyle/>
                    <a:p>
                      <a:pPr algn="ctr"/>
                      <a:r>
                        <a:rPr sz="1200" b="0">
                          <a:solidFill>
                            <a:srgbClr val="222222"/>
                          </a:solidFill>
                          <a:latin typeface="Calibri"/>
                        </a:rPr>
                        <a:t>37.87 ± 5.65%</a:t>
                      </a:r>
                    </a:p>
                  </a:txBody>
                  <a:tcPr marL="54864" marR="54864" marT="18288" marB="18288" anchor="ctr">
                    <a:solidFill>
                      <a:srgbClr val="F8F9FA"/>
                    </a:solidFill>
                  </a:tcPr>
                </a:tc>
                <a:tc>
                  <a:txBody>
                    <a:bodyPr/>
                    <a:lstStyle/>
                    <a:p>
                      <a:pPr algn="ctr"/>
                      <a:r>
                        <a:rPr sz="1200" b="0">
                          <a:solidFill>
                            <a:srgbClr val="222222"/>
                          </a:solidFill>
                          <a:latin typeface="Calibri"/>
                        </a:rPr>
                        <a:t>0.0030</a:t>
                      </a:r>
                    </a:p>
                  </a:txBody>
                  <a:tcPr marL="54864" marR="54864" marT="18288" marB="18288" anchor="ctr">
                    <a:solidFill>
                      <a:srgbClr val="F8F9FA"/>
                    </a:solidFill>
                  </a:tcPr>
                </a:tc>
              </a:tr>
            </a:tbl>
          </a:graphicData>
        </a:graphic>
      </p:graphicFrame>
      <p:sp>
        <p:nvSpPr>
          <p:cNvPr id="10" name="Rounded Rectangle 9"/>
          <p:cNvSpPr/>
          <p:nvPr/>
        </p:nvSpPr>
        <p:spPr>
          <a:xfrm>
            <a:off x="365760" y="4709160"/>
            <a:ext cx="5486400" cy="173736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008080"/>
                </a:solidFill>
              </a:defRPr>
            </a:pPr>
            <a:r>
              <a:t>Plain English Meaning</a:t>
            </a:r>
          </a:p>
          <a:p>
            <a:pPr>
              <a:defRPr sz="1150">
                <a:solidFill>
                  <a:srgbClr val="222222"/>
                </a:solidFill>
              </a:defRPr>
            </a:pPr>
            <a:r>
              <a:t>We split the data into 10 folds and tested 10 times instead of trusting one lucky split. Because p = 0.0028 is far below 0.05, the accuracy difference is statistically real, not random luck.</a:t>
            </a:r>
          </a:p>
        </p:txBody>
      </p:sp>
      <p:sp>
        <p:nvSpPr>
          <p:cNvPr id="11" name="Rounded Rectangle 10"/>
          <p:cNvSpPr/>
          <p:nvPr/>
        </p:nvSpPr>
        <p:spPr>
          <a:xfrm>
            <a:off x="6035040" y="4709160"/>
            <a:ext cx="5669280" cy="173736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C00000"/>
                </a:solidFill>
              </a:defRPr>
            </a:pPr>
            <a:r>
              <a:t>Professor's Tricky Question &amp; Winning Answer</a:t>
            </a:r>
          </a:p>
          <a:p>
            <a:pPr>
              <a:defRPr b="1" sz="1100">
                <a:solidFill>
                  <a:srgbClr val="1B365D"/>
                </a:solidFill>
              </a:defRPr>
            </a:pPr>
            <a:r>
              <a:t>Q: Why is MOPSO's accuracy lower than single-objective PSO in Table 2?</a:t>
            </a:r>
          </a:p>
          <a:p>
            <a:pPr>
              <a:defRPr sz="1050">
                <a:solidFill>
                  <a:srgbClr val="222222"/>
                </a:solidFill>
              </a:defRPr>
            </a:pPr>
            <a:r>
              <a:t>A: PSO cares only about accuracy. MOPSO is multi-objective: it deliberately trades a slice of accuracy to satisfy 4 other real network constraints (low jitter, CPU load, setup delay, bandwidth). An 80%-accurate model that crashes the switch CPU is worse than a 63% model that keeps the switch running smoothly.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Instruction 4: 3-Policy Fitness Weight Ablation &amp; Pareto Shifts</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5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nst4_ablation_policy_bars.png"/>
          <p:cNvPicPr>
            <a:picLocks noChangeAspect="1"/>
          </p:cNvPicPr>
          <p:nvPr/>
        </p:nvPicPr>
        <p:blipFill>
          <a:blip r:embed="rId2"/>
          <a:stretch>
            <a:fillRect/>
          </a:stretch>
        </p:blipFill>
        <p:spPr>
          <a:xfrm>
            <a:off x="3578629" y="1051560"/>
            <a:ext cx="5004261" cy="1965960"/>
          </a:xfrm>
          <a:prstGeom prst="rect">
            <a:avLst/>
          </a:prstGeom>
        </p:spPr>
      </p:pic>
      <p:graphicFrame>
        <p:nvGraphicFramePr>
          <p:cNvPr id="8" name="Table 7"/>
          <p:cNvGraphicFramePr>
            <a:graphicFrameLocks noGrp="1"/>
          </p:cNvGraphicFramePr>
          <p:nvPr/>
        </p:nvGraphicFramePr>
        <p:xfrm>
          <a:off x="457200" y="3154680"/>
          <a:ext cx="11247120" cy="1417320"/>
        </p:xfrm>
        <a:graphic>
          <a:graphicData uri="http://schemas.openxmlformats.org/drawingml/2006/table">
            <a:tbl>
              <a:tblPr firstRow="1" bandRow="1">
                <a:tableStyleId>{5C22544A-7EE6-4342-B048-85BDC9FD1C3A}</a:tableStyleId>
              </a:tblPr>
              <a:tblGrid>
                <a:gridCol w="3749040"/>
                <a:gridCol w="3749040"/>
                <a:gridCol w="3749040"/>
              </a:tblGrid>
              <a:tr h="283464">
                <a:tc>
                  <a:txBody>
                    <a:bodyPr/>
                    <a:lstStyle/>
                    <a:p>
                      <a:pPr algn="l"/>
                      <a:r>
                        <a:rPr sz="1200" b="1">
                          <a:solidFill>
                            <a:srgbClr val="FFFFFF"/>
                          </a:solidFill>
                          <a:latin typeface="Calibri"/>
                        </a:rPr>
                        <a:t>Policy</a:t>
                      </a:r>
                    </a:p>
                  </a:txBody>
                  <a:tcPr marL="54864" marR="54864" marT="18288" marB="18288" anchor="ctr">
                    <a:solidFill>
                      <a:srgbClr val="1B365D"/>
                    </a:solidFill>
                  </a:tcPr>
                </a:tc>
                <a:tc>
                  <a:txBody>
                    <a:bodyPr/>
                    <a:lstStyle/>
                    <a:p>
                      <a:pPr algn="ctr"/>
                      <a:r>
                        <a:rPr sz="1200" b="1">
                          <a:solidFill>
                            <a:srgbClr val="FFFFFF"/>
                          </a:solidFill>
                          <a:latin typeface="Calibri"/>
                        </a:rPr>
                        <a:t>Pareto (USTC/ISCX)</a:t>
                      </a:r>
                    </a:p>
                  </a:txBody>
                  <a:tcPr marL="54864" marR="54864" marT="18288" marB="18288" anchor="ctr">
                    <a:solidFill>
                      <a:srgbClr val="1B365D"/>
                    </a:solidFill>
                  </a:tcPr>
                </a:tc>
                <a:tc>
                  <a:txBody>
                    <a:bodyPr/>
                    <a:lstStyle/>
                    <a:p>
                      <a:pPr algn="ctr"/>
                      <a:r>
                        <a:rPr sz="1200" b="1">
                          <a:solidFill>
                            <a:srgbClr val="FFFFFF"/>
                          </a:solidFill>
                          <a:latin typeface="Calibri"/>
                        </a:rPr>
                        <a:t>Deployed F (USTC/ISCX)</a:t>
                      </a:r>
                    </a:p>
                  </a:txBody>
                  <a:tcPr marL="54864" marR="54864" marT="18288" marB="18288" anchor="ctr">
                    <a:solidFill>
                      <a:srgbClr val="1B365D"/>
                    </a:solidFill>
                  </a:tcPr>
                </a:tc>
              </a:tr>
              <a:tr h="283464">
                <a:tc>
                  <a:txBody>
                    <a:bodyPr/>
                    <a:lstStyle/>
                    <a:p>
                      <a:pPr algn="l"/>
                      <a:r>
                        <a:rPr sz="1200" b="0">
                          <a:solidFill>
                            <a:srgbClr val="222222"/>
                          </a:solidFill>
                          <a:latin typeface="Calibri"/>
                        </a:rPr>
                        <a:t>Default Balanced</a:t>
                      </a:r>
                    </a:p>
                  </a:txBody>
                  <a:tcPr marL="54864" marR="54864" marT="18288" marB="18288" anchor="ctr">
                    <a:solidFill>
                      <a:srgbClr val="FFFFFF"/>
                    </a:solidFill>
                  </a:tcPr>
                </a:tc>
                <a:tc>
                  <a:txBody>
                    <a:bodyPr/>
                    <a:lstStyle/>
                    <a:p>
                      <a:pPr algn="ctr"/>
                      <a:r>
                        <a:rPr sz="1200" b="0">
                          <a:solidFill>
                            <a:srgbClr val="222222"/>
                          </a:solidFill>
                          <a:latin typeface="Calibri"/>
                        </a:rPr>
                        <a:t>7 / 9</a:t>
                      </a:r>
                    </a:p>
                  </a:txBody>
                  <a:tcPr marL="54864" marR="54864" marT="18288" marB="18288" anchor="ctr">
                    <a:solidFill>
                      <a:srgbClr val="FFFFFF"/>
                    </a:solidFill>
                  </a:tcPr>
                </a:tc>
                <a:tc>
                  <a:txBody>
                    <a:bodyPr/>
                    <a:lstStyle/>
                    <a:p>
                      <a:pPr algn="ctr"/>
                      <a:r>
                        <a:rPr sz="1200" b="0">
                          <a:solidFill>
                            <a:srgbClr val="222222"/>
                          </a:solidFill>
                          <a:latin typeface="Calibri"/>
                        </a:rPr>
                        <a:t>0.702 / 0.598</a:t>
                      </a:r>
                    </a:p>
                  </a:txBody>
                  <a:tcPr marL="54864" marR="54864" marT="18288" marB="18288" anchor="ctr">
                    <a:solidFill>
                      <a:srgbClr val="FFFFFF"/>
                    </a:solidFill>
                  </a:tcPr>
                </a:tc>
              </a:tr>
              <a:tr h="283464">
                <a:tc>
                  <a:txBody>
                    <a:bodyPr/>
                    <a:lstStyle/>
                    <a:p>
                      <a:pPr algn="l"/>
                      <a:r>
                        <a:rPr sz="1200" b="0">
                          <a:solidFill>
                            <a:srgbClr val="222222"/>
                          </a:solidFill>
                          <a:latin typeface="Calibri"/>
                        </a:rPr>
                        <a:t>Accuracy-Critical</a:t>
                      </a:r>
                    </a:p>
                  </a:txBody>
                  <a:tcPr marL="54864" marR="54864" marT="18288" marB="18288" anchor="ctr">
                    <a:solidFill>
                      <a:srgbClr val="F8F9FA"/>
                    </a:solidFill>
                  </a:tcPr>
                </a:tc>
                <a:tc>
                  <a:txBody>
                    <a:bodyPr/>
                    <a:lstStyle/>
                    <a:p>
                      <a:pPr algn="ctr"/>
                      <a:r>
                        <a:rPr sz="1200" b="0">
                          <a:solidFill>
                            <a:srgbClr val="222222"/>
                          </a:solidFill>
                          <a:latin typeface="Calibri"/>
                        </a:rPr>
                        <a:t>5 / 2</a:t>
                      </a:r>
                    </a:p>
                  </a:txBody>
                  <a:tcPr marL="54864" marR="54864" marT="18288" marB="18288" anchor="ctr">
                    <a:solidFill>
                      <a:srgbClr val="F8F9FA"/>
                    </a:solidFill>
                  </a:tcPr>
                </a:tc>
                <a:tc>
                  <a:txBody>
                    <a:bodyPr/>
                    <a:lstStyle/>
                    <a:p>
                      <a:pPr algn="ctr"/>
                      <a:r>
                        <a:rPr sz="1200" b="0">
                          <a:solidFill>
                            <a:srgbClr val="222222"/>
                          </a:solidFill>
                          <a:latin typeface="Calibri"/>
                        </a:rPr>
                        <a:t>0.902 / 0.866</a:t>
                      </a:r>
                    </a:p>
                  </a:txBody>
                  <a:tcPr marL="54864" marR="54864" marT="18288" marB="18288" anchor="ctr">
                    <a:solidFill>
                      <a:srgbClr val="F8F9FA"/>
                    </a:solidFill>
                  </a:tcPr>
                </a:tc>
              </a:tr>
              <a:tr h="283464">
                <a:tc>
                  <a:txBody>
                    <a:bodyPr/>
                    <a:lstStyle/>
                    <a:p>
                      <a:pPr algn="l"/>
                      <a:r>
                        <a:rPr sz="1200" b="0">
                          <a:solidFill>
                            <a:srgbClr val="222222"/>
                          </a:solidFill>
                          <a:latin typeface="Calibri"/>
                        </a:rPr>
                        <a:t>Bandwidth-Constrained</a:t>
                      </a:r>
                    </a:p>
                  </a:txBody>
                  <a:tcPr marL="54864" marR="54864" marT="18288" marB="18288" anchor="ctr">
                    <a:solidFill>
                      <a:srgbClr val="FFFFFF"/>
                    </a:solidFill>
                  </a:tcPr>
                </a:tc>
                <a:tc>
                  <a:txBody>
                    <a:bodyPr/>
                    <a:lstStyle/>
                    <a:p>
                      <a:pPr algn="ctr"/>
                      <a:r>
                        <a:rPr sz="1200" b="0">
                          <a:solidFill>
                            <a:srgbClr val="222222"/>
                          </a:solidFill>
                          <a:latin typeface="Calibri"/>
                        </a:rPr>
                        <a:t>10 / 17</a:t>
                      </a:r>
                    </a:p>
                  </a:txBody>
                  <a:tcPr marL="54864" marR="54864" marT="18288" marB="18288" anchor="ctr">
                    <a:solidFill>
                      <a:srgbClr val="FFFFFF"/>
                    </a:solidFill>
                  </a:tcPr>
                </a:tc>
                <a:tc>
                  <a:txBody>
                    <a:bodyPr/>
                    <a:lstStyle/>
                    <a:p>
                      <a:pPr algn="ctr"/>
                      <a:r>
                        <a:rPr sz="1200" b="0">
                          <a:solidFill>
                            <a:srgbClr val="222222"/>
                          </a:solidFill>
                          <a:latin typeface="Calibri"/>
                        </a:rPr>
                        <a:t>0.648 / 0.596</a:t>
                      </a:r>
                    </a:p>
                  </a:txBody>
                  <a:tcPr marL="54864" marR="54864" marT="18288" marB="18288" anchor="ctr">
                    <a:solidFill>
                      <a:srgbClr val="FFFFFF"/>
                    </a:solidFill>
                  </a:tcPr>
                </a:tc>
              </a:tr>
              <a:tr h="283464">
                <a:tc>
                  <a:txBody>
                    <a:bodyPr/>
                    <a:lstStyle/>
                    <a:p>
                      <a:pPr algn="l"/>
                      <a:r>
                        <a:rPr sz="1200" b="0">
                          <a:solidFill>
                            <a:srgbClr val="222222"/>
                          </a:solidFill>
                          <a:latin typeface="Calibri"/>
                        </a:rPr>
                        <a:t>Latency-Sensitive</a:t>
                      </a:r>
                    </a:p>
                  </a:txBody>
                  <a:tcPr marL="54864" marR="54864" marT="18288" marB="18288" anchor="ctr">
                    <a:solidFill>
                      <a:srgbClr val="F8F9FA"/>
                    </a:solidFill>
                  </a:tcPr>
                </a:tc>
                <a:tc>
                  <a:txBody>
                    <a:bodyPr/>
                    <a:lstStyle/>
                    <a:p>
                      <a:pPr algn="ctr"/>
                      <a:r>
                        <a:rPr sz="1200" b="0">
                          <a:solidFill>
                            <a:srgbClr val="222222"/>
                          </a:solidFill>
                          <a:latin typeface="Calibri"/>
                        </a:rPr>
                        <a:t>12 / 15</a:t>
                      </a:r>
                    </a:p>
                  </a:txBody>
                  <a:tcPr marL="54864" marR="54864" marT="18288" marB="18288" anchor="ctr">
                    <a:solidFill>
                      <a:srgbClr val="F8F9FA"/>
                    </a:solidFill>
                  </a:tcPr>
                </a:tc>
                <a:tc>
                  <a:txBody>
                    <a:bodyPr/>
                    <a:lstStyle/>
                    <a:p>
                      <a:pPr algn="ctr"/>
                      <a:r>
                        <a:rPr sz="1200" b="0">
                          <a:solidFill>
                            <a:srgbClr val="222222"/>
                          </a:solidFill>
                          <a:latin typeface="Calibri"/>
                        </a:rPr>
                        <a:t>0.428 / 0.363</a:t>
                      </a:r>
                    </a:p>
                  </a:txBody>
                  <a:tcPr marL="54864" marR="54864" marT="18288" marB="18288" anchor="ctr">
                    <a:solidFill>
                      <a:srgbClr val="F8F9FA"/>
                    </a:solidFill>
                  </a:tcPr>
                </a:tc>
              </a:tr>
            </a:tbl>
          </a:graphicData>
        </a:graphic>
      </p:graphicFrame>
      <p:sp>
        <p:nvSpPr>
          <p:cNvPr id="9" name="Rounded Rectangle 8"/>
          <p:cNvSpPr/>
          <p:nvPr/>
        </p:nvSpPr>
        <p:spPr>
          <a:xfrm>
            <a:off x="365760" y="4709160"/>
            <a:ext cx="5486400" cy="173736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008080"/>
                </a:solidFill>
              </a:defRPr>
            </a:pPr>
            <a:r>
              <a:t>Plain English Meaning</a:t>
            </a:r>
          </a:p>
          <a:p>
            <a:pPr>
              <a:defRPr sz="1150">
                <a:solidFill>
                  <a:srgbClr val="222222"/>
                </a:solidFill>
              </a:defRPr>
            </a:pPr>
            <a:r>
              <a:t>Different network scenarios need different priorities. Switching to the Latency-Sensitive policy nearly halves the overhead to 0.36-0.42, proving the controller can re-tune itself just by adjusting weights, without retraining.</a:t>
            </a:r>
          </a:p>
        </p:txBody>
      </p:sp>
      <p:sp>
        <p:nvSpPr>
          <p:cNvPr id="10" name="Rounded Rectangle 9"/>
          <p:cNvSpPr/>
          <p:nvPr/>
        </p:nvSpPr>
        <p:spPr>
          <a:xfrm>
            <a:off x="6035040" y="4709160"/>
            <a:ext cx="5669280" cy="173736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C00000"/>
                </a:solidFill>
              </a:defRPr>
            </a:pPr>
            <a:r>
              <a:t>Professor's Tricky Question &amp; Winning Answer</a:t>
            </a:r>
          </a:p>
          <a:p>
            <a:pPr>
              <a:defRPr b="1" sz="1100">
                <a:solidFill>
                  <a:srgbClr val="1B365D"/>
                </a:solidFill>
              </a:defRPr>
            </a:pPr>
            <a:r>
              <a:t>Q: What is a Pareto Front?</a:t>
            </a:r>
          </a:p>
          <a:p>
            <a:pPr>
              <a:defRPr sz="1050">
                <a:solidFill>
                  <a:srgbClr val="222222"/>
                </a:solidFill>
              </a:defRPr>
            </a:pPr>
            <a:r>
              <a:t>A: A set of optimal compromise solutions where you cannot improve one objective (accuracy) without hurting another (latency). Instead of one fixed model, MOPSO hands the operator a menu of choices.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Instruction 5: Permutation Feature Importance Analysis</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6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nst5_feature_importance_comparison.png"/>
          <p:cNvPicPr>
            <a:picLocks noChangeAspect="1"/>
          </p:cNvPicPr>
          <p:nvPr/>
        </p:nvPicPr>
        <p:blipFill>
          <a:blip r:embed="rId2"/>
          <a:stretch>
            <a:fillRect/>
          </a:stretch>
        </p:blipFill>
        <p:spPr>
          <a:xfrm>
            <a:off x="3787140" y="1051560"/>
            <a:ext cx="4587240" cy="1965960"/>
          </a:xfrm>
          <a:prstGeom prst="rect">
            <a:avLst/>
          </a:prstGeom>
        </p:spPr>
      </p:pic>
      <p:graphicFrame>
        <p:nvGraphicFramePr>
          <p:cNvPr id="8" name="Table 7"/>
          <p:cNvGraphicFramePr>
            <a:graphicFrameLocks noGrp="1"/>
          </p:cNvGraphicFramePr>
          <p:nvPr/>
        </p:nvGraphicFramePr>
        <p:xfrm>
          <a:off x="457200" y="3154680"/>
          <a:ext cx="11247120" cy="1417320"/>
        </p:xfrm>
        <a:graphic>
          <a:graphicData uri="http://schemas.openxmlformats.org/drawingml/2006/table">
            <a:tbl>
              <a:tblPr firstRow="1" bandRow="1">
                <a:tableStyleId>{5C22544A-7EE6-4342-B048-85BDC9FD1C3A}</a:tableStyleId>
              </a:tblPr>
              <a:tblGrid>
                <a:gridCol w="3749040"/>
                <a:gridCol w="3749040"/>
                <a:gridCol w="3749040"/>
              </a:tblGrid>
              <a:tr h="354330">
                <a:tc>
                  <a:txBody>
                    <a:bodyPr/>
                    <a:lstStyle/>
                    <a:p>
                      <a:pPr algn="l"/>
                      <a:r>
                        <a:rPr sz="1200" b="1">
                          <a:solidFill>
                            <a:srgbClr val="FFFFFF"/>
                          </a:solidFill>
                          <a:latin typeface="Calibri"/>
                        </a:rPr>
                        <a:t>Feature</a:t>
                      </a:r>
                    </a:p>
                  </a:txBody>
                  <a:tcPr marL="54864" marR="54864" marT="18288" marB="18288" anchor="ctr">
                    <a:solidFill>
                      <a:srgbClr val="1B365D"/>
                    </a:solidFill>
                  </a:tcPr>
                </a:tc>
                <a:tc>
                  <a:txBody>
                    <a:bodyPr/>
                    <a:lstStyle/>
                    <a:p>
                      <a:pPr algn="ctr"/>
                      <a:r>
                        <a:rPr sz="1200" b="1">
                          <a:solidFill>
                            <a:srgbClr val="FFFFFF"/>
                          </a:solidFill>
                          <a:latin typeface="Calibri"/>
                        </a:rPr>
                        <a:t>USTC Importance</a:t>
                      </a:r>
                    </a:p>
                  </a:txBody>
                  <a:tcPr marL="54864" marR="54864" marT="18288" marB="18288" anchor="ctr">
                    <a:solidFill>
                      <a:srgbClr val="1B365D"/>
                    </a:solidFill>
                  </a:tcPr>
                </a:tc>
                <a:tc>
                  <a:txBody>
                    <a:bodyPr/>
                    <a:lstStyle/>
                    <a:p>
                      <a:pPr algn="ctr"/>
                      <a:r>
                        <a:rPr sz="1200" b="1">
                          <a:solidFill>
                            <a:srgbClr val="FFFFFF"/>
                          </a:solidFill>
                          <a:latin typeface="Calibri"/>
                        </a:rPr>
                        <a:t>ISCX Importance</a:t>
                      </a:r>
                    </a:p>
                  </a:txBody>
                  <a:tcPr marL="54864" marR="54864" marT="18288" marB="18288" anchor="ctr">
                    <a:solidFill>
                      <a:srgbClr val="1B365D"/>
                    </a:solidFill>
                  </a:tcPr>
                </a:tc>
              </a:tr>
              <a:tr h="354330">
                <a:tc>
                  <a:txBody>
                    <a:bodyPr/>
                    <a:lstStyle/>
                    <a:p>
                      <a:pPr algn="l"/>
                      <a:r>
                        <a:rPr sz="1200" b="0">
                          <a:solidFill>
                            <a:srgbClr val="222222"/>
                          </a:solidFill>
                          <a:latin typeface="Calibri"/>
                        </a:rPr>
                        <a:t>ttl</a:t>
                      </a:r>
                    </a:p>
                  </a:txBody>
                  <a:tcPr marL="54864" marR="54864" marT="18288" marB="18288" anchor="ctr">
                    <a:solidFill>
                      <a:srgbClr val="FFFFFF"/>
                    </a:solidFill>
                  </a:tcPr>
                </a:tc>
                <a:tc>
                  <a:txBody>
                    <a:bodyPr/>
                    <a:lstStyle/>
                    <a:p>
                      <a:pPr algn="ctr"/>
                      <a:r>
                        <a:rPr sz="1200" b="0">
                          <a:solidFill>
                            <a:srgbClr val="222222"/>
                          </a:solidFill>
                          <a:latin typeface="Calibri"/>
                        </a:rPr>
                        <a:t>+0.00208 (Rank 1)</a:t>
                      </a:r>
                    </a:p>
                  </a:txBody>
                  <a:tcPr marL="54864" marR="54864" marT="18288" marB="18288" anchor="ctr">
                    <a:solidFill>
                      <a:srgbClr val="FFFFFF"/>
                    </a:solidFill>
                  </a:tcPr>
                </a:tc>
                <a:tc>
                  <a:txBody>
                    <a:bodyPr/>
                    <a:lstStyle/>
                    <a:p>
                      <a:pPr algn="ctr"/>
                      <a:r>
                        <a:rPr sz="1200" b="0">
                          <a:solidFill>
                            <a:srgbClr val="222222"/>
                          </a:solidFill>
                          <a:latin typeface="Calibri"/>
                        </a:rPr>
                        <a:t>-0.00233</a:t>
                      </a:r>
                    </a:p>
                  </a:txBody>
                  <a:tcPr marL="54864" marR="54864" marT="18288" marB="18288" anchor="ctr">
                    <a:solidFill>
                      <a:srgbClr val="FFFFFF"/>
                    </a:solidFill>
                  </a:tcPr>
                </a:tc>
              </a:tr>
              <a:tr h="354330">
                <a:tc>
                  <a:txBody>
                    <a:bodyPr/>
                    <a:lstStyle/>
                    <a:p>
                      <a:pPr algn="l"/>
                      <a:r>
                        <a:rPr sz="1200" b="0">
                          <a:solidFill>
                            <a:srgbClr val="222222"/>
                          </a:solidFill>
                          <a:latin typeface="Calibri"/>
                        </a:rPr>
                        <a:t>inter_arrival_time</a:t>
                      </a:r>
                    </a:p>
                  </a:txBody>
                  <a:tcPr marL="54864" marR="54864" marT="18288" marB="18288" anchor="ctr">
                    <a:solidFill>
                      <a:srgbClr val="F8F9FA"/>
                    </a:solidFill>
                  </a:tcPr>
                </a:tc>
                <a:tc>
                  <a:txBody>
                    <a:bodyPr/>
                    <a:lstStyle/>
                    <a:p>
                      <a:pPr algn="ctr"/>
                      <a:r>
                        <a:rPr sz="1200" b="0">
                          <a:solidFill>
                            <a:srgbClr val="222222"/>
                          </a:solidFill>
                          <a:latin typeface="Calibri"/>
                        </a:rPr>
                        <a:t>+0.00001</a:t>
                      </a:r>
                    </a:p>
                  </a:txBody>
                  <a:tcPr marL="54864" marR="54864" marT="18288" marB="18288" anchor="ctr">
                    <a:solidFill>
                      <a:srgbClr val="F8F9FA"/>
                    </a:solidFill>
                  </a:tcPr>
                </a:tc>
                <a:tc>
                  <a:txBody>
                    <a:bodyPr/>
                    <a:lstStyle/>
                    <a:p>
                      <a:pPr algn="ctr"/>
                      <a:r>
                        <a:rPr sz="1200" b="0">
                          <a:solidFill>
                            <a:srgbClr val="222222"/>
                          </a:solidFill>
                          <a:latin typeface="Calibri"/>
                        </a:rPr>
                        <a:t>+0.00625 (Rank 1)</a:t>
                      </a:r>
                    </a:p>
                  </a:txBody>
                  <a:tcPr marL="54864" marR="54864" marT="18288" marB="18288" anchor="ctr">
                    <a:solidFill>
                      <a:srgbClr val="F8F9FA"/>
                    </a:solidFill>
                  </a:tcPr>
                </a:tc>
              </a:tr>
              <a:tr h="354330">
                <a:tc>
                  <a:txBody>
                    <a:bodyPr/>
                    <a:lstStyle/>
                    <a:p>
                      <a:pPr algn="l"/>
                      <a:r>
                        <a:rPr sz="1200" b="0">
                          <a:solidFill>
                            <a:srgbClr val="222222"/>
                          </a:solidFill>
                          <a:latin typeface="Calibri"/>
                        </a:rPr>
                        <a:t>dst_port</a:t>
                      </a:r>
                    </a:p>
                  </a:txBody>
                  <a:tcPr marL="54864" marR="54864" marT="18288" marB="18288" anchor="ctr">
                    <a:solidFill>
                      <a:srgbClr val="FFFFFF"/>
                    </a:solidFill>
                  </a:tcPr>
                </a:tc>
                <a:tc>
                  <a:txBody>
                    <a:bodyPr/>
                    <a:lstStyle/>
                    <a:p>
                      <a:pPr algn="ctr"/>
                      <a:r>
                        <a:rPr sz="1200" b="0">
                          <a:solidFill>
                            <a:srgbClr val="222222"/>
                          </a:solidFill>
                          <a:latin typeface="Calibri"/>
                        </a:rPr>
                        <a:t>-0.00007 (near 0)</a:t>
                      </a:r>
                    </a:p>
                  </a:txBody>
                  <a:tcPr marL="54864" marR="54864" marT="18288" marB="18288" anchor="ctr">
                    <a:solidFill>
                      <a:srgbClr val="FFFFFF"/>
                    </a:solidFill>
                  </a:tcPr>
                </a:tc>
                <a:tc>
                  <a:txBody>
                    <a:bodyPr/>
                    <a:lstStyle/>
                    <a:p>
                      <a:pPr algn="ctr"/>
                      <a:r>
                        <a:rPr sz="1200" b="0">
                          <a:solidFill>
                            <a:srgbClr val="222222"/>
                          </a:solidFill>
                          <a:latin typeface="Calibri"/>
                        </a:rPr>
                        <a:t>-0.00149 (near 0)</a:t>
                      </a:r>
                    </a:p>
                  </a:txBody>
                  <a:tcPr marL="54864" marR="54864" marT="18288" marB="18288" anchor="ctr">
                    <a:solidFill>
                      <a:srgbClr val="FFFFFF"/>
                    </a:solidFill>
                  </a:tcPr>
                </a:tc>
              </a:tr>
            </a:tbl>
          </a:graphicData>
        </a:graphic>
      </p:graphicFrame>
      <p:sp>
        <p:nvSpPr>
          <p:cNvPr id="9" name="Rounded Rectangle 8"/>
          <p:cNvSpPr/>
          <p:nvPr/>
        </p:nvSpPr>
        <p:spPr>
          <a:xfrm>
            <a:off x="365760" y="4709160"/>
            <a:ext cx="5486400" cy="173736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008080"/>
                </a:solidFill>
              </a:defRPr>
            </a:pPr>
            <a:r>
              <a:t>Plain English Meaning</a:t>
            </a:r>
          </a:p>
          <a:p>
            <a:pPr>
              <a:defRPr sz="1150">
                <a:solidFill>
                  <a:srgbClr val="222222"/>
                </a:solidFill>
              </a:defRPr>
            </a:pPr>
            <a:r>
              <a:t>We shuffle one feature at a time and measure how much accuracy drops. TTL matters most for USTC malware (distant botnet servers); packet timing matters most for ISCX (chat pauses vs video bursts); destination port matters almost nowhere.</a:t>
            </a:r>
          </a:p>
        </p:txBody>
      </p:sp>
      <p:sp>
        <p:nvSpPr>
          <p:cNvPr id="10" name="Rounded Rectangle 9"/>
          <p:cNvSpPr/>
          <p:nvPr/>
        </p:nvSpPr>
        <p:spPr>
          <a:xfrm>
            <a:off x="6035040" y="4709160"/>
            <a:ext cx="5669280" cy="173736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C00000"/>
                </a:solidFill>
              </a:defRPr>
            </a:pPr>
            <a:r>
              <a:t>Professor's Tricky Question &amp; Winning Answer</a:t>
            </a:r>
          </a:p>
          <a:p>
            <a:pPr>
              <a:defRPr b="1" sz="1100">
                <a:solidFill>
                  <a:srgbClr val="1B365D"/>
                </a:solidFill>
              </a:defRPr>
            </a:pPr>
            <a:r>
              <a:t>Q: Why is destination port so useless on real datasets?</a:t>
            </a:r>
          </a:p>
          <a:p>
            <a:pPr>
              <a:defRPr sz="1050">
                <a:solidFill>
                  <a:srgbClr val="222222"/>
                </a:solidFill>
              </a:defRPr>
            </a:pPr>
            <a:r>
              <a:t>A: Traditionally port 80 meant web and port 25 meant email. Today, VPN, chat, video, and malware are all encrypted and tunnelled through port 443 (HTTPS) to bypass firewalls, so port number carries almost no signal.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Instruction 6: Lemma 1 &amp; 2 Mathematical Swarm Stability</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7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nst6_lemma_stability.png"/>
          <p:cNvPicPr>
            <a:picLocks noChangeAspect="1"/>
          </p:cNvPicPr>
          <p:nvPr/>
        </p:nvPicPr>
        <p:blipFill>
          <a:blip r:embed="rId2"/>
          <a:stretch>
            <a:fillRect/>
          </a:stretch>
        </p:blipFill>
        <p:spPr>
          <a:xfrm>
            <a:off x="3578629" y="1051560"/>
            <a:ext cx="5004261" cy="1965960"/>
          </a:xfrm>
          <a:prstGeom prst="rect">
            <a:avLst/>
          </a:prstGeom>
        </p:spPr>
      </p:pic>
      <p:graphicFrame>
        <p:nvGraphicFramePr>
          <p:cNvPr id="8" name="Table 7"/>
          <p:cNvGraphicFramePr>
            <a:graphicFrameLocks noGrp="1"/>
          </p:cNvGraphicFramePr>
          <p:nvPr/>
        </p:nvGraphicFramePr>
        <p:xfrm>
          <a:off x="457200" y="3154680"/>
          <a:ext cx="11247120" cy="1417320"/>
        </p:xfrm>
        <a:graphic>
          <a:graphicData uri="http://schemas.openxmlformats.org/drawingml/2006/table">
            <a:tbl>
              <a:tblPr firstRow="1" bandRow="1">
                <a:tableStyleId>{5C22544A-7EE6-4342-B048-85BDC9FD1C3A}</a:tableStyleId>
              </a:tblPr>
              <a:tblGrid>
                <a:gridCol w="3749040"/>
                <a:gridCol w="3749040"/>
                <a:gridCol w="3749040"/>
              </a:tblGrid>
              <a:tr h="472440">
                <a:tc>
                  <a:txBody>
                    <a:bodyPr/>
                    <a:lstStyle/>
                    <a:p>
                      <a:pPr algn="l"/>
                      <a:r>
                        <a:rPr sz="1200" b="1">
                          <a:solidFill>
                            <a:srgbClr val="FFFFFF"/>
                          </a:solidFill>
                          <a:latin typeface="Calibri"/>
                        </a:rPr>
                        <a:t>Lemma</a:t>
                      </a:r>
                    </a:p>
                  </a:txBody>
                  <a:tcPr marL="54864" marR="54864" marT="18288" marB="18288" anchor="ctr">
                    <a:solidFill>
                      <a:srgbClr val="1B365D"/>
                    </a:solidFill>
                  </a:tcPr>
                </a:tc>
                <a:tc>
                  <a:txBody>
                    <a:bodyPr/>
                    <a:lstStyle/>
                    <a:p>
                      <a:pPr algn="ctr"/>
                      <a:r>
                        <a:rPr sz="1200" b="1">
                          <a:solidFill>
                            <a:srgbClr val="FFFFFF"/>
                          </a:solidFill>
                          <a:latin typeface="Calibri"/>
                        </a:rPr>
                        <a:t>Condition</a:t>
                      </a:r>
                    </a:p>
                  </a:txBody>
                  <a:tcPr marL="54864" marR="54864" marT="18288" marB="18288" anchor="ctr">
                    <a:solidFill>
                      <a:srgbClr val="1B365D"/>
                    </a:solidFill>
                  </a:tcPr>
                </a:tc>
                <a:tc>
                  <a:txBody>
                    <a:bodyPr/>
                    <a:lstStyle/>
                    <a:p>
                      <a:pPr algn="ctr"/>
                      <a:r>
                        <a:rPr sz="1200" b="1">
                          <a:solidFill>
                            <a:srgbClr val="FFFFFF"/>
                          </a:solidFill>
                          <a:latin typeface="Calibri"/>
                        </a:rPr>
                        <a:t>Result</a:t>
                      </a:r>
                    </a:p>
                  </a:txBody>
                  <a:tcPr marL="54864" marR="54864" marT="18288" marB="18288" anchor="ctr">
                    <a:solidFill>
                      <a:srgbClr val="1B365D"/>
                    </a:solidFill>
                  </a:tcPr>
                </a:tc>
              </a:tr>
              <a:tr h="472440">
                <a:tc>
                  <a:txBody>
                    <a:bodyPr/>
                    <a:lstStyle/>
                    <a:p>
                      <a:pPr algn="l"/>
                      <a:r>
                        <a:rPr sz="1200" b="0">
                          <a:solidFill>
                            <a:srgbClr val="222222"/>
                          </a:solidFill>
                          <a:latin typeface="Calibri"/>
                        </a:rPr>
                        <a:t>Lemma 1 (Mean Convergence)</a:t>
                      </a:r>
                    </a:p>
                  </a:txBody>
                  <a:tcPr marL="54864" marR="54864" marT="18288" marB="18288" anchor="ctr">
                    <a:solidFill>
                      <a:srgbClr val="FFFFFF"/>
                    </a:solidFill>
                  </a:tcPr>
                </a:tc>
                <a:tc>
                  <a:txBody>
                    <a:bodyPr/>
                    <a:lstStyle/>
                    <a:p>
                      <a:pPr algn="ctr"/>
                      <a:r>
                        <a:rPr sz="1200" b="0">
                          <a:solidFill>
                            <a:srgbClr val="222222"/>
                          </a:solidFill>
                          <a:latin typeface="Calibri"/>
                        </a:rPr>
                        <a:t>ρ = 0.8543 &lt; 1.0</a:t>
                      </a:r>
                    </a:p>
                  </a:txBody>
                  <a:tcPr marL="54864" marR="54864" marT="18288" marB="18288" anchor="ctr">
                    <a:solidFill>
                      <a:srgbClr val="FFFFFF"/>
                    </a:solidFill>
                  </a:tcPr>
                </a:tc>
                <a:tc>
                  <a:txBody>
                    <a:bodyPr/>
                    <a:lstStyle/>
                    <a:p>
                      <a:pPr algn="ctr"/>
                      <a:r>
                        <a:rPr sz="1200" b="0">
                          <a:solidFill>
                            <a:srgbClr val="222222"/>
                          </a:solidFill>
                          <a:latin typeface="Calibri"/>
                        </a:rPr>
                        <a:t>Roots inside unit circle -&gt; converges</a:t>
                      </a:r>
                    </a:p>
                  </a:txBody>
                  <a:tcPr marL="54864" marR="54864" marT="18288" marB="18288" anchor="ctr">
                    <a:solidFill>
                      <a:srgbClr val="FFFFFF"/>
                    </a:solidFill>
                  </a:tcPr>
                </a:tc>
              </a:tr>
              <a:tr h="472440">
                <a:tc>
                  <a:txBody>
                    <a:bodyPr/>
                    <a:lstStyle/>
                    <a:p>
                      <a:pPr algn="l"/>
                      <a:r>
                        <a:rPr sz="1200" b="0">
                          <a:solidFill>
                            <a:srgbClr val="222222"/>
                          </a:solidFill>
                          <a:latin typeface="Calibri"/>
                        </a:rPr>
                        <a:t>Lemma 2 (Variance Stability)</a:t>
                      </a:r>
                    </a:p>
                  </a:txBody>
                  <a:tcPr marL="54864" marR="54864" marT="18288" marB="18288" anchor="ctr">
                    <a:solidFill>
                      <a:srgbClr val="F8F9FA"/>
                    </a:solidFill>
                  </a:tcPr>
                </a:tc>
                <a:tc>
                  <a:txBody>
                    <a:bodyPr/>
                    <a:lstStyle/>
                    <a:p>
                      <a:pPr algn="ctr"/>
                      <a:r>
                        <a:rPr sz="1200" b="0">
                          <a:solidFill>
                            <a:srgbClr val="222222"/>
                          </a:solidFill>
                          <a:latin typeface="Calibri"/>
                        </a:rPr>
                        <a:t>c1+c2 = 2.992 &lt; 3.347</a:t>
                      </a:r>
                    </a:p>
                  </a:txBody>
                  <a:tcPr marL="54864" marR="54864" marT="18288" marB="18288" anchor="ctr">
                    <a:solidFill>
                      <a:srgbClr val="F8F9FA"/>
                    </a:solidFill>
                  </a:tcPr>
                </a:tc>
                <a:tc>
                  <a:txBody>
                    <a:bodyPr/>
                    <a:lstStyle/>
                    <a:p>
                      <a:pPr algn="ctr"/>
                      <a:r>
                        <a:rPr sz="1200" b="0">
                          <a:solidFill>
                            <a:srgbClr val="222222"/>
                          </a:solidFill>
                          <a:latin typeface="Calibri"/>
                        </a:rPr>
                        <a:t>Variance -&gt; 0, no explosion</a:t>
                      </a:r>
                    </a:p>
                  </a:txBody>
                  <a:tcPr marL="54864" marR="54864" marT="18288" marB="18288" anchor="ctr">
                    <a:solidFill>
                      <a:srgbClr val="F8F9FA"/>
                    </a:solidFill>
                  </a:tcPr>
                </a:tc>
              </a:tr>
            </a:tbl>
          </a:graphicData>
        </a:graphic>
      </p:graphicFrame>
      <p:sp>
        <p:nvSpPr>
          <p:cNvPr id="9" name="Rounded Rectangle 8"/>
          <p:cNvSpPr/>
          <p:nvPr/>
        </p:nvSpPr>
        <p:spPr>
          <a:xfrm>
            <a:off x="365760" y="4709160"/>
            <a:ext cx="5486400" cy="173736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008080"/>
                </a:solidFill>
              </a:defRPr>
            </a:pPr>
            <a:r>
              <a:t>Plain English Meaning</a:t>
            </a:r>
          </a:p>
          <a:p>
            <a:pPr>
              <a:defRPr sz="1150">
                <a:solidFill>
                  <a:srgbClr val="222222"/>
                </a:solidFill>
              </a:defRPr>
            </a:pPr>
            <a:r>
              <a:t>The left plot places the swarm's mathematical roots inside a unit circle -- proof it always converges and never spirals out of control. The right plot shows particle variance decaying to zero over time.</a:t>
            </a:r>
          </a:p>
        </p:txBody>
      </p:sp>
      <p:sp>
        <p:nvSpPr>
          <p:cNvPr id="10" name="Rounded Rectangle 9"/>
          <p:cNvSpPr/>
          <p:nvPr/>
        </p:nvSpPr>
        <p:spPr>
          <a:xfrm>
            <a:off x="6035040" y="4709160"/>
            <a:ext cx="5669280" cy="173736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C00000"/>
                </a:solidFill>
              </a:defRPr>
            </a:pPr>
            <a:r>
              <a:t>Professor's Tricky Question &amp; Winning Answer</a:t>
            </a:r>
          </a:p>
          <a:p>
            <a:pPr>
              <a:defRPr b="1" sz="1100">
                <a:solidFill>
                  <a:srgbClr val="1B365D"/>
                </a:solidFill>
              </a:defRPr>
            </a:pPr>
            <a:r>
              <a:t>Q: Why does swarm stability matter for an SDN controller?</a:t>
            </a:r>
          </a:p>
          <a:p>
            <a:pPr>
              <a:defRPr sz="1050">
                <a:solidFill>
                  <a:srgbClr val="222222"/>
                </a:solidFill>
              </a:defRPr>
            </a:pPr>
            <a:r>
              <a:t>A: If variance exploded, weights would fluctuate wildly, and the controller would keep reclassifying flows back and forth, flooding switches with conflicting FLOW_MOD rules. Lemmas 1 and 2 prove the system stabilizes smoothly in under 2.5 seconds.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Instruction 7: 3-Point Comprehensive Discussion</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8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nst7_discussion_tradeoffs.png"/>
          <p:cNvPicPr>
            <a:picLocks noChangeAspect="1"/>
          </p:cNvPicPr>
          <p:nvPr/>
        </p:nvPicPr>
        <p:blipFill>
          <a:blip r:embed="rId2"/>
          <a:stretch>
            <a:fillRect/>
          </a:stretch>
        </p:blipFill>
        <p:spPr>
          <a:xfrm>
            <a:off x="5097780" y="1051560"/>
            <a:ext cx="1965960" cy="1965960"/>
          </a:xfrm>
          <a:prstGeom prst="rect">
            <a:avLst/>
          </a:prstGeom>
        </p:spPr>
      </p:pic>
      <p:graphicFrame>
        <p:nvGraphicFramePr>
          <p:cNvPr id="8" name="Table 7"/>
          <p:cNvGraphicFramePr>
            <a:graphicFrameLocks noGrp="1"/>
          </p:cNvGraphicFramePr>
          <p:nvPr/>
        </p:nvGraphicFramePr>
        <p:xfrm>
          <a:off x="457200" y="3154680"/>
          <a:ext cx="11247120" cy="1417320"/>
        </p:xfrm>
        <a:graphic>
          <a:graphicData uri="http://schemas.openxmlformats.org/drawingml/2006/table">
            <a:tbl>
              <a:tblPr firstRow="1" bandRow="1">
                <a:tableStyleId>{5C22544A-7EE6-4342-B048-85BDC9FD1C3A}</a:tableStyleId>
              </a:tblPr>
              <a:tblGrid>
                <a:gridCol w="5623560"/>
                <a:gridCol w="5623560"/>
              </a:tblGrid>
              <a:tr h="354330">
                <a:tc>
                  <a:txBody>
                    <a:bodyPr/>
                    <a:lstStyle/>
                    <a:p>
                      <a:pPr algn="l"/>
                      <a:r>
                        <a:rPr sz="1200" b="1">
                          <a:solidFill>
                            <a:srgbClr val="FFFFFF"/>
                          </a:solidFill>
                          <a:latin typeface="Calibri"/>
                        </a:rPr>
                        <a:t>Pillar</a:t>
                      </a:r>
                    </a:p>
                  </a:txBody>
                  <a:tcPr marL="54864" marR="54864" marT="18288" marB="18288" anchor="ctr">
                    <a:solidFill>
                      <a:srgbClr val="1B365D"/>
                    </a:solidFill>
                  </a:tcPr>
                </a:tc>
                <a:tc>
                  <a:txBody>
                    <a:bodyPr/>
                    <a:lstStyle/>
                    <a:p>
                      <a:pPr algn="ctr"/>
                      <a:r>
                        <a:rPr sz="1200" b="1">
                          <a:solidFill>
                            <a:srgbClr val="FFFFFF"/>
                          </a:solidFill>
                          <a:latin typeface="Calibri"/>
                        </a:rPr>
                        <a:t>Why It Matters</a:t>
                      </a:r>
                    </a:p>
                  </a:txBody>
                  <a:tcPr marL="54864" marR="54864" marT="18288" marB="18288" anchor="ctr">
                    <a:solidFill>
                      <a:srgbClr val="1B365D"/>
                    </a:solidFill>
                  </a:tcPr>
                </a:tc>
              </a:tr>
              <a:tr h="354330">
                <a:tc>
                  <a:txBody>
                    <a:bodyPr/>
                    <a:lstStyle/>
                    <a:p>
                      <a:pPr algn="l"/>
                      <a:r>
                        <a:rPr sz="1200" b="0">
                          <a:solidFill>
                            <a:srgbClr val="222222"/>
                          </a:solidFill>
                          <a:latin typeface="Calibri"/>
                        </a:rPr>
                        <a:t>Statistical features vs raw bytes</a:t>
                      </a:r>
                    </a:p>
                  </a:txBody>
                  <a:tcPr marL="54864" marR="54864" marT="18288" marB="18288" anchor="ctr">
                    <a:solidFill>
                      <a:srgbClr val="FFFFFF"/>
                    </a:solidFill>
                  </a:tcPr>
                </a:tc>
                <a:tc>
                  <a:txBody>
                    <a:bodyPr/>
                    <a:lstStyle/>
                    <a:p>
                      <a:pPr algn="ctr"/>
                      <a:r>
                        <a:rPr sz="1200" b="0">
                          <a:solidFill>
                            <a:srgbClr val="222222"/>
                          </a:solidFill>
                          <a:latin typeface="Calibri"/>
                        </a:rPr>
                        <a:t>Works under TLS 1.3 ciphertext; preserves privacy</a:t>
                      </a:r>
                    </a:p>
                  </a:txBody>
                  <a:tcPr marL="54864" marR="54864" marT="18288" marB="18288" anchor="ctr">
                    <a:solidFill>
                      <a:srgbClr val="FFFFFF"/>
                    </a:solidFill>
                  </a:tcPr>
                </a:tc>
              </a:tr>
              <a:tr h="354330">
                <a:tc>
                  <a:txBody>
                    <a:bodyPr/>
                    <a:lstStyle/>
                    <a:p>
                      <a:pPr algn="l"/>
                      <a:r>
                        <a:rPr sz="1200" b="0">
                          <a:solidFill>
                            <a:srgbClr val="222222"/>
                          </a:solidFill>
                          <a:latin typeface="Calibri"/>
                        </a:rPr>
                        <a:t>MOPSO training vs SGD</a:t>
                      </a:r>
                    </a:p>
                  </a:txBody>
                  <a:tcPr marL="54864" marR="54864" marT="18288" marB="18288" anchor="ctr">
                    <a:solidFill>
                      <a:srgbClr val="F8F9FA"/>
                    </a:solidFill>
                  </a:tcPr>
                </a:tc>
                <a:tc>
                  <a:txBody>
                    <a:bodyPr/>
                    <a:lstStyle/>
                    <a:p>
                      <a:pPr algn="ctr"/>
                      <a:r>
                        <a:rPr sz="1200" b="0">
                          <a:solidFill>
                            <a:srgbClr val="222222"/>
                          </a:solidFill>
                          <a:latin typeface="Calibri"/>
                        </a:rPr>
                        <a:t>~180 s offline; &lt; 0.4 ms online per packet</a:t>
                      </a:r>
                    </a:p>
                  </a:txBody>
                  <a:tcPr marL="54864" marR="54864" marT="18288" marB="18288" anchor="ctr">
                    <a:solidFill>
                      <a:srgbClr val="F8F9FA"/>
                    </a:solidFill>
                  </a:tcPr>
                </a:tc>
              </a:tr>
              <a:tr h="354330">
                <a:tc>
                  <a:txBody>
                    <a:bodyPr/>
                    <a:lstStyle/>
                    <a:p>
                      <a:pPr algn="l"/>
                      <a:r>
                        <a:rPr sz="1200" b="0">
                          <a:solidFill>
                            <a:srgbClr val="222222"/>
                          </a:solidFill>
                          <a:latin typeface="Calibri"/>
                        </a:rPr>
                        <a:t>Generalization to QUIC/HTTP-3</a:t>
                      </a:r>
                    </a:p>
                  </a:txBody>
                  <a:tcPr marL="54864" marR="54864" marT="18288" marB="18288" anchor="ctr">
                    <a:solidFill>
                      <a:srgbClr val="FFFFFF"/>
                    </a:solidFill>
                  </a:tcPr>
                </a:tc>
                <a:tc>
                  <a:txBody>
                    <a:bodyPr/>
                    <a:lstStyle/>
                    <a:p>
                      <a:pPr algn="ctr"/>
                      <a:r>
                        <a:rPr sz="1200" b="0">
                          <a:solidFill>
                            <a:srgbClr val="222222"/>
                          </a:solidFill>
                          <a:latin typeface="Calibri"/>
                        </a:rPr>
                        <a:t>Relies on timing/volume, not handshake flags</a:t>
                      </a:r>
                    </a:p>
                  </a:txBody>
                  <a:tcPr marL="54864" marR="54864" marT="18288" marB="18288" anchor="ctr">
                    <a:solidFill>
                      <a:srgbClr val="FFFFFF"/>
                    </a:solidFill>
                  </a:tcPr>
                </a:tc>
              </a:tr>
            </a:tbl>
          </a:graphicData>
        </a:graphic>
      </p:graphicFrame>
      <p:sp>
        <p:nvSpPr>
          <p:cNvPr id="9" name="Rounded Rectangle 8"/>
          <p:cNvSpPr/>
          <p:nvPr/>
        </p:nvSpPr>
        <p:spPr>
          <a:xfrm>
            <a:off x="365760" y="4709160"/>
            <a:ext cx="5486400" cy="173736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008080"/>
                </a:solidFill>
              </a:defRPr>
            </a:pPr>
            <a:r>
              <a:t>Plain English Meaning</a:t>
            </a:r>
          </a:p>
          <a:p>
            <a:pPr>
              <a:defRPr sz="1150">
                <a:solidFill>
                  <a:srgbClr val="222222"/>
                </a:solidFill>
              </a:defRPr>
            </a:pPr>
            <a:r>
              <a:t>This radar chart compares our system against deep learning and plain PSO across 5 operational axes. Deep learning wins only on raw accuracy; we score 9/10 or better everywhere else.</a:t>
            </a:r>
          </a:p>
        </p:txBody>
      </p:sp>
      <p:sp>
        <p:nvSpPr>
          <p:cNvPr id="10" name="Rounded Rectangle 9"/>
          <p:cNvSpPr/>
          <p:nvPr/>
        </p:nvSpPr>
        <p:spPr>
          <a:xfrm>
            <a:off x="6035040" y="4709160"/>
            <a:ext cx="5669280" cy="173736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C00000"/>
                </a:solidFill>
              </a:defRPr>
            </a:pPr>
            <a:r>
              <a:t>Professor's Tricky Question &amp; Winning Answer</a:t>
            </a:r>
          </a:p>
          <a:p>
            <a:pPr>
              <a:defRPr b="1" sz="1100">
                <a:solidFill>
                  <a:srgbClr val="1B365D"/>
                </a:solidFill>
              </a:defRPr>
            </a:pPr>
            <a:r>
              <a:t>Q: Will this still work once everything moves to QUIC?</a:t>
            </a:r>
          </a:p>
          <a:p>
            <a:pPr>
              <a:defRPr sz="1050">
                <a:solidFill>
                  <a:srgbClr val="222222"/>
                </a:solidFill>
              </a:defRPr>
            </a:pPr>
            <a:r>
              <a:t>A: Yes. QUIC encrypts transport headers but cannot hide packet timing or total flow bytes. Since our model relies on temporal and volumetric behavior, it generalizes to QUIC without deep packet inspection.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Instruction 8: Codebase Packaging, Verification &amp; Appendix</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9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nst8_system_pipeline.png"/>
          <p:cNvPicPr>
            <a:picLocks noChangeAspect="1"/>
          </p:cNvPicPr>
          <p:nvPr/>
        </p:nvPicPr>
        <p:blipFill>
          <a:blip r:embed="rId2"/>
          <a:stretch>
            <a:fillRect/>
          </a:stretch>
        </p:blipFill>
        <p:spPr>
          <a:xfrm>
            <a:off x="4114800" y="1051560"/>
            <a:ext cx="3931920" cy="1965960"/>
          </a:xfrm>
          <a:prstGeom prst="rect">
            <a:avLst/>
          </a:prstGeom>
        </p:spPr>
      </p:pic>
      <p:graphicFrame>
        <p:nvGraphicFramePr>
          <p:cNvPr id="8" name="Table 7"/>
          <p:cNvGraphicFramePr>
            <a:graphicFrameLocks noGrp="1"/>
          </p:cNvGraphicFramePr>
          <p:nvPr/>
        </p:nvGraphicFramePr>
        <p:xfrm>
          <a:off x="457200" y="3154680"/>
          <a:ext cx="11247120" cy="1417320"/>
        </p:xfrm>
        <a:graphic>
          <a:graphicData uri="http://schemas.openxmlformats.org/drawingml/2006/table">
            <a:tbl>
              <a:tblPr firstRow="1" bandRow="1">
                <a:tableStyleId>{5C22544A-7EE6-4342-B048-85BDC9FD1C3A}</a:tableStyleId>
              </a:tblPr>
              <a:tblGrid>
                <a:gridCol w="3749040"/>
                <a:gridCol w="3749040"/>
                <a:gridCol w="3749040"/>
              </a:tblGrid>
              <a:tr h="283464">
                <a:tc>
                  <a:txBody>
                    <a:bodyPr/>
                    <a:lstStyle/>
                    <a:p>
                      <a:pPr algn="l"/>
                      <a:r>
                        <a:rPr sz="1200" b="1">
                          <a:solidFill>
                            <a:srgbClr val="FFFFFF"/>
                          </a:solidFill>
                          <a:latin typeface="Calibri"/>
                        </a:rPr>
                        <a:t>Test File</a:t>
                      </a:r>
                    </a:p>
                  </a:txBody>
                  <a:tcPr marL="54864" marR="54864" marT="18288" marB="18288" anchor="ctr">
                    <a:solidFill>
                      <a:srgbClr val="1B365D"/>
                    </a:solidFill>
                  </a:tcPr>
                </a:tc>
                <a:tc>
                  <a:txBody>
                    <a:bodyPr/>
                    <a:lstStyle/>
                    <a:p>
                      <a:pPr algn="ctr"/>
                      <a:r>
                        <a:rPr sz="1200" b="1">
                          <a:solidFill>
                            <a:srgbClr val="FFFFFF"/>
                          </a:solidFill>
                          <a:latin typeface="Calibri"/>
                        </a:rPr>
                        <a:t>What It Verifies</a:t>
                      </a:r>
                    </a:p>
                  </a:txBody>
                  <a:tcPr marL="54864" marR="54864" marT="18288" marB="18288" anchor="ctr">
                    <a:solidFill>
                      <a:srgbClr val="1B365D"/>
                    </a:solidFill>
                  </a:tcPr>
                </a:tc>
                <a:tc>
                  <a:txBody>
                    <a:bodyPr/>
                    <a:lstStyle/>
                    <a:p>
                      <a:pPr algn="ctr"/>
                      <a:r>
                        <a:rPr sz="1200" b="1">
                          <a:solidFill>
                            <a:srgbClr val="FFFFFF"/>
                          </a:solidFill>
                          <a:latin typeface="Calibri"/>
                        </a:rPr>
                        <a:t>Status</a:t>
                      </a:r>
                    </a:p>
                  </a:txBody>
                  <a:tcPr marL="54864" marR="54864" marT="18288" marB="18288" anchor="ctr">
                    <a:solidFill>
                      <a:srgbClr val="1B365D"/>
                    </a:solidFill>
                  </a:tcPr>
                </a:tc>
              </a:tr>
              <a:tr h="283464">
                <a:tc>
                  <a:txBody>
                    <a:bodyPr/>
                    <a:lstStyle/>
                    <a:p>
                      <a:pPr algn="l"/>
                      <a:r>
                        <a:rPr sz="1200" b="0">
                          <a:solidFill>
                            <a:srgbClr val="222222"/>
                          </a:solidFill>
                          <a:latin typeface="Calibri"/>
                        </a:rPr>
                        <a:t>test_dataset_pipeline.py</a:t>
                      </a:r>
                    </a:p>
                  </a:txBody>
                  <a:tcPr marL="54864" marR="54864" marT="18288" marB="18288" anchor="ctr">
                    <a:solidFill>
                      <a:srgbClr val="FFFFFF"/>
                    </a:solidFill>
                  </a:tcPr>
                </a:tc>
                <a:tc>
                  <a:txBody>
                    <a:bodyPr/>
                    <a:lstStyle/>
                    <a:p>
                      <a:pPr algn="ctr"/>
                      <a:r>
                        <a:rPr sz="1200" b="0">
                          <a:solidFill>
                            <a:srgbClr val="222222"/>
                          </a:solidFill>
                          <a:latin typeface="Calibri"/>
                        </a:rPr>
                        <a:t>8 features present, zero leakage</a:t>
                      </a:r>
                    </a:p>
                  </a:txBody>
                  <a:tcPr marL="54864" marR="54864" marT="18288" marB="18288" anchor="ctr">
                    <a:solidFill>
                      <a:srgbClr val="FFFFFF"/>
                    </a:solidFill>
                  </a:tcPr>
                </a:tc>
                <a:tc>
                  <a:txBody>
                    <a:bodyPr/>
                    <a:lstStyle/>
                    <a:p>
                      <a:pPr algn="ctr"/>
                      <a:r>
                        <a:rPr sz="1200" b="0">
                          <a:solidFill>
                            <a:srgbClr val="222222"/>
                          </a:solidFill>
                          <a:latin typeface="Calibri"/>
                        </a:rPr>
                        <a:t>Passed</a:t>
                      </a:r>
                    </a:p>
                  </a:txBody>
                  <a:tcPr marL="54864" marR="54864" marT="18288" marB="18288" anchor="ctr">
                    <a:solidFill>
                      <a:srgbClr val="FFFFFF"/>
                    </a:solidFill>
                  </a:tcPr>
                </a:tc>
              </a:tr>
              <a:tr h="283464">
                <a:tc>
                  <a:txBody>
                    <a:bodyPr/>
                    <a:lstStyle/>
                    <a:p>
                      <a:pPr algn="l"/>
                      <a:r>
                        <a:rPr sz="1200" b="0">
                          <a:solidFill>
                            <a:srgbClr val="222222"/>
                          </a:solidFill>
                          <a:latin typeface="Calibri"/>
                        </a:rPr>
                        <a:t>test_models.py</a:t>
                      </a:r>
                    </a:p>
                  </a:txBody>
                  <a:tcPr marL="54864" marR="54864" marT="18288" marB="18288" anchor="ctr">
                    <a:solidFill>
                      <a:srgbClr val="F8F9FA"/>
                    </a:solidFill>
                  </a:tcPr>
                </a:tc>
                <a:tc>
                  <a:txBody>
                    <a:bodyPr/>
                    <a:lstStyle/>
                    <a:p>
                      <a:pPr algn="ctr"/>
                      <a:r>
                        <a:rPr sz="1200" b="0">
                          <a:solidFill>
                            <a:srgbClr val="222222"/>
                          </a:solidFill>
                          <a:latin typeface="Calibri"/>
                        </a:rPr>
                        <a:t>D=325 param footprint</a:t>
                      </a:r>
                    </a:p>
                  </a:txBody>
                  <a:tcPr marL="54864" marR="54864" marT="18288" marB="18288" anchor="ctr">
                    <a:solidFill>
                      <a:srgbClr val="F8F9FA"/>
                    </a:solidFill>
                  </a:tcPr>
                </a:tc>
                <a:tc>
                  <a:txBody>
                    <a:bodyPr/>
                    <a:lstStyle/>
                    <a:p>
                      <a:pPr algn="ctr"/>
                      <a:r>
                        <a:rPr sz="1200" b="0">
                          <a:solidFill>
                            <a:srgbClr val="222222"/>
                          </a:solidFill>
                          <a:latin typeface="Calibri"/>
                        </a:rPr>
                        <a:t>Passed</a:t>
                      </a:r>
                    </a:p>
                  </a:txBody>
                  <a:tcPr marL="54864" marR="54864" marT="18288" marB="18288" anchor="ctr">
                    <a:solidFill>
                      <a:srgbClr val="F8F9FA"/>
                    </a:solidFill>
                  </a:tcPr>
                </a:tc>
              </a:tr>
              <a:tr h="283464">
                <a:tc>
                  <a:txBody>
                    <a:bodyPr/>
                    <a:lstStyle/>
                    <a:p>
                      <a:pPr algn="l"/>
                      <a:r>
                        <a:rPr sz="1200" b="0">
                          <a:solidFill>
                            <a:srgbClr val="222222"/>
                          </a:solidFill>
                          <a:latin typeface="Calibri"/>
                        </a:rPr>
                        <a:t>test_composite_fitness.py</a:t>
                      </a:r>
                    </a:p>
                  </a:txBody>
                  <a:tcPr marL="54864" marR="54864" marT="18288" marB="18288" anchor="ctr">
                    <a:solidFill>
                      <a:srgbClr val="FFFFFF"/>
                    </a:solidFill>
                  </a:tcPr>
                </a:tc>
                <a:tc>
                  <a:txBody>
                    <a:bodyPr/>
                    <a:lstStyle/>
                    <a:p>
                      <a:pPr algn="ctr"/>
                      <a:r>
                        <a:rPr sz="1200" b="0">
                          <a:solidFill>
                            <a:srgbClr val="222222"/>
                          </a:solidFill>
                          <a:latin typeface="Calibri"/>
                        </a:rPr>
                        <a:t>5-component fitness &amp; jitter</a:t>
                      </a:r>
                    </a:p>
                  </a:txBody>
                  <a:tcPr marL="54864" marR="54864" marT="18288" marB="18288" anchor="ctr">
                    <a:solidFill>
                      <a:srgbClr val="FFFFFF"/>
                    </a:solidFill>
                  </a:tcPr>
                </a:tc>
                <a:tc>
                  <a:txBody>
                    <a:bodyPr/>
                    <a:lstStyle/>
                    <a:p>
                      <a:pPr algn="ctr"/>
                      <a:r>
                        <a:rPr sz="1200" b="0">
                          <a:solidFill>
                            <a:srgbClr val="222222"/>
                          </a:solidFill>
                          <a:latin typeface="Calibri"/>
                        </a:rPr>
                        <a:t>Passed</a:t>
                      </a:r>
                    </a:p>
                  </a:txBody>
                  <a:tcPr marL="54864" marR="54864" marT="18288" marB="18288" anchor="ctr">
                    <a:solidFill>
                      <a:srgbClr val="FFFFFF"/>
                    </a:solidFill>
                  </a:tcPr>
                </a:tc>
              </a:tr>
              <a:tr h="283464">
                <a:tc>
                  <a:txBody>
                    <a:bodyPr/>
                    <a:lstStyle/>
                    <a:p>
                      <a:pPr algn="l"/>
                      <a:r>
                        <a:rPr sz="1200" b="0">
                          <a:solidFill>
                            <a:srgbClr val="222222"/>
                          </a:solidFill>
                          <a:latin typeface="Calibri"/>
                        </a:rPr>
                        <a:t>test_mopso_optimizer.py</a:t>
                      </a:r>
                    </a:p>
                  </a:txBody>
                  <a:tcPr marL="54864" marR="54864" marT="18288" marB="18288" anchor="ctr">
                    <a:solidFill>
                      <a:srgbClr val="F8F9FA"/>
                    </a:solidFill>
                  </a:tcPr>
                </a:tc>
                <a:tc>
                  <a:txBody>
                    <a:bodyPr/>
                    <a:lstStyle/>
                    <a:p>
                      <a:pPr algn="ctr"/>
                      <a:r>
                        <a:rPr sz="1200" b="0">
                          <a:solidFill>
                            <a:srgbClr val="222222"/>
                          </a:solidFill>
                          <a:latin typeface="Calibri"/>
                        </a:rPr>
                        <a:t>Pareto archive &amp; drift detector</a:t>
                      </a:r>
                    </a:p>
                  </a:txBody>
                  <a:tcPr marL="54864" marR="54864" marT="18288" marB="18288" anchor="ctr">
                    <a:solidFill>
                      <a:srgbClr val="F8F9FA"/>
                    </a:solidFill>
                  </a:tcPr>
                </a:tc>
                <a:tc>
                  <a:txBody>
                    <a:bodyPr/>
                    <a:lstStyle/>
                    <a:p>
                      <a:pPr algn="ctr"/>
                      <a:r>
                        <a:rPr sz="1200" b="0">
                          <a:solidFill>
                            <a:srgbClr val="222222"/>
                          </a:solidFill>
                          <a:latin typeface="Calibri"/>
                        </a:rPr>
                        <a:t>Passed</a:t>
                      </a:r>
                    </a:p>
                  </a:txBody>
                  <a:tcPr marL="54864" marR="54864" marT="18288" marB="18288" anchor="ctr">
                    <a:solidFill>
                      <a:srgbClr val="F8F9FA"/>
                    </a:solidFill>
                  </a:tcPr>
                </a:tc>
              </a:tr>
            </a:tbl>
          </a:graphicData>
        </a:graphic>
      </p:graphicFrame>
      <p:sp>
        <p:nvSpPr>
          <p:cNvPr id="9" name="Rounded Rectangle 8"/>
          <p:cNvSpPr/>
          <p:nvPr/>
        </p:nvSpPr>
        <p:spPr>
          <a:xfrm>
            <a:off x="365760" y="4709160"/>
            <a:ext cx="5486400" cy="173736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008080"/>
                </a:solidFill>
              </a:defRPr>
            </a:pPr>
            <a:r>
              <a:t>Plain English Meaning</a:t>
            </a:r>
          </a:p>
          <a:p>
            <a:pPr>
              <a:defRPr sz="1150">
                <a:solidFill>
                  <a:srgbClr val="222222"/>
                </a:solidFill>
              </a:defRPr>
            </a:pPr>
            <a:r>
              <a:t>All 13 automated tests pass with 100% success, proving the pipeline, model sizes, fitness formula, and optimizer all behave exactly as claimed before any experiment is trusted.</a:t>
            </a:r>
          </a:p>
        </p:txBody>
      </p:sp>
      <p:sp>
        <p:nvSpPr>
          <p:cNvPr id="10" name="Rounded Rectangle 9"/>
          <p:cNvSpPr/>
          <p:nvPr/>
        </p:nvSpPr>
        <p:spPr>
          <a:xfrm>
            <a:off x="6035040" y="4709160"/>
            <a:ext cx="5669280" cy="173736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b="1" sz="1300">
                <a:solidFill>
                  <a:srgbClr val="C00000"/>
                </a:solidFill>
              </a:defRPr>
            </a:pPr>
            <a:r>
              <a:t>Professor's Tricky Question &amp; Winning Answer</a:t>
            </a:r>
          </a:p>
          <a:p>
            <a:pPr>
              <a:defRPr b="1" sz="1100">
                <a:solidFill>
                  <a:srgbClr val="1B365D"/>
                </a:solidFill>
              </a:defRPr>
            </a:pPr>
            <a:r>
              <a:t>Q: How do we know your numbers are not fabricated?</a:t>
            </a:r>
          </a:p>
          <a:p>
            <a:pPr>
              <a:defRPr sz="1050">
                <a:solidFill>
                  <a:srgbClr val="222222"/>
                </a:solidFill>
              </a:defRPr>
            </a:pPr>
            <a:r>
              <a:t>A: Every number traces back to a CSV in results/ produced by run_experiments.py, and 13/13 pytest checks verify the underlying formulas and data pipeline independently of any single experiment 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Quick 60-Second Presentation Pitch</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10 of 10</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10515600" cy="4114800"/>
          </a:xfrm>
          <a:prstGeom prst="rect">
            <a:avLst/>
          </a:prstGeom>
          <a:noFill/>
        </p:spPr>
        <p:txBody>
          <a:bodyPr wrap="square">
            <a:spAutoFit/>
          </a:bodyPr>
          <a:lstStyle/>
          <a:p>
            <a:pPr>
              <a:spcAft>
                <a:spcPts val="1000"/>
              </a:spcAft>
              <a:defRPr sz="1800">
                <a:solidFill>
                  <a:srgbClr val="222222"/>
                </a:solidFill>
                <a:latin typeface="Calibri"/>
              </a:defRPr>
            </a:pPr>
            <a:r>
              <a:t>•  Upgraded synthetic Gaussian data to real ISCX VPN 2016 &amp; USTC-TFC 2016 benchmarks</a:t>
            </a:r>
          </a:p>
          <a:p>
            <a:pPr>
              <a:spcAft>
                <a:spcPts val="1000"/>
              </a:spcAft>
              <a:defRPr sz="1800">
                <a:solidFill>
                  <a:srgbClr val="222222"/>
                </a:solidFill>
                <a:latin typeface="Calibri"/>
              </a:defRPr>
            </a:pPr>
            <a:r>
              <a:t>•  8-feature schema plus 3 deep learning baselines: 1D-CNN, LSTM, Compact Transformer</a:t>
            </a:r>
          </a:p>
          <a:p>
            <a:pPr>
              <a:spcAft>
                <a:spcPts val="1000"/>
              </a:spcAft>
              <a:defRPr sz="1800">
                <a:solidFill>
                  <a:srgbClr val="222222"/>
                </a:solidFill>
                <a:latin typeface="Calibri"/>
              </a:defRPr>
            </a:pPr>
            <a:r>
              <a:t>•  10-fold cross-validation proves statistical significance (p = 0.0028 &lt; 0.01)</a:t>
            </a:r>
          </a:p>
          <a:p>
            <a:pPr>
              <a:spcAft>
                <a:spcPts val="1000"/>
              </a:spcAft>
              <a:defRPr sz="1800">
                <a:solidFill>
                  <a:srgbClr val="222222"/>
                </a:solidFill>
                <a:latin typeface="Calibri"/>
              </a:defRPr>
            </a:pPr>
            <a:r>
              <a:t>•  325-parameter FFNN hits &lt; 0.4 ms inference vs 18,437-parameter Transformer</a:t>
            </a:r>
          </a:p>
          <a:p>
            <a:pPr>
              <a:spcAft>
                <a:spcPts val="1000"/>
              </a:spcAft>
              <a:defRPr sz="1800">
                <a:solidFill>
                  <a:srgbClr val="222222"/>
                </a:solidFill>
                <a:latin typeface="Calibri"/>
              </a:defRPr>
            </a:pPr>
            <a:r>
              <a:t>•  3-policy Pareto menu and &lt; 2.5 s concept-drift recovery, backed by Lemmas 1 &amp;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