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TO INTRODUCE YOURSELF &amp; PROJECT:</a:t>
            </a:r>
          </a:p>
          <a:p>
            <a:r>
              <a:t>Good morning, Mam and Sir. Today we present our Review 3 defense for our paper merging our senior's research into a Q2 journal submission.</a:t>
            </a:r>
          </a:p>
          <a:p>
            <a:r>
              <a:t>Rather than defending inflated numbers from synthetic data, we did the hard engineering: we evaluated the method on real packet captures.</a:t>
            </a:r>
          </a:p>
          <a:p>
            <a:r>
              <a:t>Our contribution is an honest, mathematically rigorous negative result. We show why a 325-parameter evolutionary network is Pareto-dominated by deep learning on real traffic, uncover temporal data leakage, and share practical design lessons for SDWN edge intelligence.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TO SAY IN 45 SECONDS:</a:t>
            </a:r>
          </a:p>
          <a:p>
            <a:r>
              <a:t>Mam, this first graph is our core finding. In multi-objective optimization, a trade-off requires winning on at least one axis—like lower overhead or higher speed.</a:t>
            </a:r>
          </a:p>
          <a:p>
            <a:r>
              <a:t>As you can see in Figure 1, the ideal region is the top-left: high accuracy, low overhead F.</a:t>
            </a:r>
          </a:p>
          <a:p>
            <a:r>
              <a:t>Standard deep learning models—CNN, LSTM, and Transformer—occupy that ideal region. They achieved 77% to 78% accuracy with overhead F under 0.20.</a:t>
            </a:r>
          </a:p>
          <a:p>
            <a:r>
              <a:t>Our proposed MOPSO had 63% accuracy and a higher overhead of 0.38. So it loses on both axes simultaneously. That is Pareto domination, not a trade-off.</a:t>
            </a:r>
          </a:p>
          <a:p>
            <a:r>
              <a:t>Publishing this as an honest negative result explains why the formula failed, which is exactly what Q2 reviewers want to see.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TO SAY IN 45 SECONDS:</a:t>
            </a:r>
          </a:p>
          <a:p>
            <a:r>
              <a:t>Why did our senior get 94.3% accuracy? Because it was tested only on synthetic data—clean, artificial Gaussian clusters.</a:t>
            </a:r>
          </a:p>
          <a:p>
            <a:r>
              <a:t>Figure 2 shows what happened the moment we piped real network packet captures into the system.</a:t>
            </a:r>
          </a:p>
          <a:p>
            <a:r>
              <a:t>On USTC malware, MOPSO fell to 63%. On ISCX encrypted VPN traffic, it collapsed to 37.8%.</a:t>
            </a:r>
          </a:p>
          <a:p>
            <a:r>
              <a:t>Meanwhile, standard 1D-CNN and LSTM models maintained 61% to 78% accuracy on the exact same real packets.</a:t>
            </a:r>
          </a:p>
          <a:p>
            <a:r>
              <a:t>This proved that synthetic datasets are an illusion in network research. 325 parameters is simply too small to partition encrypted traffic.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TO SAY IN 45 SECONDS:</a:t>
            </a:r>
          </a:p>
          <a:p>
            <a:r>
              <a:t>Faculty often ask: why not just use ET-BERT or YaTC if they get 97% accuracy?</a:t>
            </a:r>
          </a:p>
          <a:p>
            <a:r>
              <a:t>Figure 3 plots model accuracy against parameter count on a logarithmic scale.</a:t>
            </a:r>
          </a:p>
          <a:p>
            <a:r>
              <a:t>ET-BERT has 50 million parameters and requires a GPU server. But OpenFlow edge switches have limited TCAM memory—they can't store more than 10,000 parameters.</a:t>
            </a:r>
          </a:p>
          <a:p>
            <a:r>
              <a:t>Our goal was to test whether a compact 325-parameter model could run directly on the switch.</a:t>
            </a:r>
          </a:p>
          <a:p>
            <a:r>
              <a:t>Our conclusion: while it fits into memory, it loses too much accuracy. The best trade-off for edge intelligence is actually a compact 1D-CNN with 2,300 parameters.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TO SAY IN 45 SECONDS:</a:t>
            </a:r>
          </a:p>
          <a:p>
            <a:r>
              <a:t>Next, we audited experimental methodology. Most machine learning papers in networking use random 10-fold cross validation. But that leaks future data.</a:t>
            </a:r>
          </a:p>
          <a:p>
            <a:r>
              <a:t>In real life, packets in a network flow occur seconds apart. Random splitting mixes packets from the same session into both training and testing folds, allowing the model to cheat.</a:t>
            </a:r>
          </a:p>
          <a:p>
            <a:r>
              <a:t>In Figure 4, we built a Time-Blocked CV pipeline that splits flows chronologically into 10 strict time blocks.</a:t>
            </a:r>
          </a:p>
          <a:p>
            <a:r>
              <a:t>As expected, accuracy dropped by 6% to 8% once leakage was eliminated. But deep learning still beats MOPSO by 15% to 19%.</a:t>
            </a:r>
          </a:p>
          <a:p>
            <a:r>
              <a:t>This proves our negative result is not an evaluation fluke.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TO SAY IN 45 SECONDS:</a:t>
            </a:r>
          </a:p>
          <a:p>
            <a:r>
              <a:t>Prior literature claimed that TTL—Time-To-Live—is the most important feature for identifying network traffic.</a:t>
            </a:r>
          </a:p>
          <a:p>
            <a:r>
              <a:t>We tested that assumption in Figure 5. TTL is just a hop counter. It decrements each time a packet hops through a router. It changes when packets take alternate paths or pass through a NAT.</a:t>
            </a:r>
          </a:p>
          <a:p>
            <a:r>
              <a:t>We added realistic noise to the TTL field to simulate route changes. The FFNN accuracy crashed by 30.5%—down to 48%!</a:t>
            </a:r>
          </a:p>
          <a:p>
            <a:r>
              <a:t>This proves feature fragility: models that look great on static captures will fail in dynamic wireless networks if they rely on topology artifacts.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TO SAY IN 45 SECONDS:</a:t>
            </a:r>
          </a:p>
          <a:p>
            <a:r>
              <a:t>Similarly, in Figure 6, we analyzed destination ports. In modern networks, destination port is useless because everything tunnels over port 443 using TLS or HTTPS.</a:t>
            </a:r>
          </a:p>
          <a:p>
            <a:r>
              <a:t>When we completely removed destination port, it caused virtually zero change in model performance.</a:t>
            </a:r>
          </a:p>
          <a:p>
            <a:r>
              <a:t>Instead, our experiments show that higher-order moments—specifically IAT Skewness and IAT Variance—provide the strongest discriminative power.</a:t>
            </a:r>
          </a:p>
          <a:p>
            <a:r>
              <a:t>Encryption hides packet payloads, but it cannot hide the physical burstiness of packet delivery.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TO SAY IN 45 SECONDS:</a:t>
            </a:r>
          </a:p>
          <a:p>
            <a:r>
              <a:t>In Figure 7, we answered why our model uses 8 features instead of 3 or 20.</a:t>
            </a:r>
          </a:p>
          <a:p>
            <a:r>
              <a:t>We plotted classification accuracy against feature count alongside neural network parameter growth.</a:t>
            </a:r>
          </a:p>
          <a:p>
            <a:r>
              <a:t>Notice how accuracy climbs quickly up to 5 features, but then completely plateaus between 5 and 8 features.</a:t>
            </a:r>
          </a:p>
          <a:p>
            <a:r>
              <a:t>Because switch memory scales directly with input size, extracting more than 8 features wastes memory without improving classification.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TO SAY IN 45 SECONDS:</a:t>
            </a:r>
          </a:p>
          <a:p>
            <a:r>
              <a:t>Finally, Mam and Sir, we evaluated the mathematical stability proofs from the senior's paper.</a:t>
            </a:r>
          </a:p>
          <a:p>
            <a:r>
              <a:t>Lemmas 1 and 2 prove that the particle swarm converges. We verified the eigenanalysis: the spectral radius is 0.8543, which is strictly less than 1.0. The math is 100% correct.</a:t>
            </a:r>
          </a:p>
          <a:p>
            <a:r>
              <a:t>However, our key scientific insight is that mathematical swarm convergence does NOT imply classifier accuracy.</a:t>
            </a:r>
          </a:p>
          <a:p>
            <a:r>
              <a:t>As shown in the right panel, a swarm can contract stably into a poor local minimum because 325 parameters is too small to learn encrypted traffic.</a:t>
            </a:r>
          </a:p>
          <a:p>
            <a:r>
              <a:t>That is why we moved the proofs to Appendix A and focused the main paper on the empirical reality.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TO SAY (FINAL WRAP-UP):</a:t>
            </a:r>
          </a:p>
          <a:p>
            <a:r>
              <a:t>To conclude our Review 3 presentation, we have satisfied all 8 directives from our supervisor:</a:t>
            </a:r>
          </a:p>
          <a:p>
            <a:r>
              <a:t>1. Complete research manuscript in both Word (.docx) and LaTeX (.tex) reframing the research as a high-value negative result.</a:t>
            </a:r>
          </a:p>
          <a:p>
            <a:r>
              <a:t>2. A clean, leakage-free codebase with streaming PCAP processing.</a:t>
            </a:r>
          </a:p>
          <a:p>
            <a:r>
              <a:t>3. A 16-test automated unit testing suite that passes in 3.3 seconds.</a:t>
            </a:r>
          </a:p>
          <a:p>
            <a:r>
              <a:t>4. A public GitHub repository with a Dockerfile ready for one-command replication.</a:t>
            </a:r>
          </a:p>
          <a:p>
            <a:r>
              <a:t>We thank you for your guidance and welcome any questions from the panel.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SDWN TRAFFIC CLASSIFICATION RESEARCH • REVIEW 3 DEFENSE</a:t>
            </a:r>
          </a:p>
          <a:p>
            <a:pPr>
              <a:spcBef>
                <a:spcPts val="800"/>
              </a:spcBef>
              <a:defRPr sz="2800" b="1">
                <a:solidFill>
                  <a:srgbClr val="0F172A"/>
                </a:solidFill>
              </a:defRPr>
            </a:pPr>
            <a:r>
              <a:t>Limits of Neuro-Evolutionary Traffic Classification in SDWNs</a:t>
            </a:r>
          </a:p>
          <a:p>
            <a:pPr>
              <a:spcBef>
                <a:spcPts val="600"/>
              </a:spcBef>
              <a:defRPr sz="1500">
                <a:solidFill>
                  <a:srgbClr val="64748B"/>
                </a:solidFill>
              </a:defRPr>
            </a:pPr>
            <a:r>
              <a:t>A Rigorous Empirical Negative Result, Real-PCAP Benchmarks &amp; Lessons Learned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657600"/>
            <a:ext cx="329184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379476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System A (Base Paper)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Pradhan et al. (IET 2022)</a:t>
            </a:r>
          </a:p>
          <a:p>
            <a:pPr>
              <a:spcBef>
                <a:spcPts val="800"/>
              </a:spcBef>
              <a:defRPr sz="1000">
                <a:solidFill>
                  <a:srgbClr val="475569"/>
                </a:solidFill>
              </a:defRPr>
            </a:pPr>
            <a:r>
              <a:t>Single-objective PSO-FFNN. Optimized accuracy only, tested only on historical tables.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3657600"/>
            <a:ext cx="3291840" cy="2286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379476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System B (Senior Baseline)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Budithi Supraja (2024)</a:t>
            </a:r>
          </a:p>
          <a:p>
            <a:pPr>
              <a:spcBef>
                <a:spcPts val="800"/>
              </a:spcBef>
              <a:defRPr sz="1000">
                <a:solidFill>
                  <a:srgbClr val="475569"/>
                </a:solidFill>
              </a:defRPr>
            </a:pPr>
            <a:r>
              <a:t>Bi-objective MOPSO-FFNN-AD with drift detection. Tested strictly on synthetic Gaussian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3657600"/>
            <a:ext cx="3291840" cy="2286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379476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System C (Our Work)</a:t>
            </a:r>
          </a:p>
          <a:p>
            <a:pPr>
              <a:spcBef>
                <a:spcPts val="200"/>
              </a:spcBef>
              <a:defRPr sz="950">
                <a:solidFill>
                  <a:srgbClr val="64748B"/>
                </a:solidFill>
              </a:defRPr>
            </a:pPr>
            <a:r>
              <a:t>Q2 Journal Submission</a:t>
            </a:r>
          </a:p>
          <a:p>
            <a:pPr>
              <a:spcBef>
                <a:spcPts val="800"/>
              </a:spcBef>
              <a:defRPr sz="1000">
                <a:solidFill>
                  <a:srgbClr val="475569"/>
                </a:solidFill>
              </a:defRPr>
            </a:pPr>
            <a:r>
              <a:t>Real PCAP evaluation (ISCX &amp; USTC), DL baselines, time-blocked CV, and an honest negative result.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SLIDE 02 • REVIEW 3 &amp; Q2 JOURNAL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MOPSO is Strictly Pareto-Dominated by Deep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Real PCAPs show our proposed method loses on both accuracy and overhead simultaneously.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4297680" cy="4892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3931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The Trade-off Myth: </a:t>
            </a:r>
            <a:r>
              <a:rPr b="0" sz="1150">
                <a:solidFill>
                  <a:srgbClr val="334155"/>
                </a:solidFill>
              </a:rPr>
              <a:t>Prior work claimed MOPSO achieved an intentional trade-off between accuracy and hardware cost. On real traffic, this trade-off does not exist.</a:t>
            </a:r>
          </a:p>
          <a:p>
            <a:pPr>
              <a:spcBef>
                <a:spcPts val="1200"/>
              </a:spcBef>
              <a:defRPr sz="1200" b="1">
                <a:solidFill>
                  <a:srgbClr val="0F172A"/>
                </a:solidFill>
              </a:defRPr>
            </a:pPr>
            <a:r>
              <a:t>The Real Numbers: </a:t>
            </a:r>
            <a:r>
              <a:rPr b="0" sz="1150">
                <a:solidFill>
                  <a:srgbClr val="334155"/>
                </a:solidFill>
              </a:rPr>
              <a:t>On USTC malware, Transformer hits 78.6% with overhead F=0.17, while MOPSO gets 63.0% with F=0.38. On ISCX encrypted traffic, LSTM gets 64.2% while MOPSO collapses to 37.9%.</a:t>
            </a:r>
          </a:p>
          <a:p>
            <a:pPr>
              <a:spcBef>
                <a:spcPts val="1200"/>
              </a:spcBef>
              <a:defRPr sz="1200" b="1">
                <a:solidFill>
                  <a:srgbClr val="0F172A"/>
                </a:solidFill>
              </a:defRPr>
            </a:pPr>
            <a:r>
              <a:t>The Negative Result: </a:t>
            </a:r>
            <a:r>
              <a:rPr b="0" sz="1150">
                <a:solidFill>
                  <a:srgbClr val="334155"/>
                </a:solidFill>
              </a:rPr>
              <a:t>To claim a trade-off, a method must win on at least one metric. Deep learning dominates on both axes. Reporting this honestly makes our paper credible for publication.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349240"/>
            <a:ext cx="3931920" cy="8686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413248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D4ED8"/>
                </a:solidFill>
              </a:defRPr>
            </a:pPr>
            <a:r>
              <a:t>TAKEAWAY: </a:t>
            </a:r>
            <a:r>
              <a:rPr b="0" sz="1000">
                <a:solidFill>
                  <a:srgbClr val="1E3A8A"/>
                </a:solidFill>
              </a:rPr>
              <a:t>Deep learning achieves higher accuracy (+15% to +26%) AND lower overhead F (-0.19 to -0.21). MOPSO is strictly dominated.</a:t>
            </a:r>
          </a:p>
        </p:txBody>
      </p:sp>
      <p:pic>
        <p:nvPicPr>
          <p:cNvPr id="10" name="Picture 9" descr="01_core_finding_pareto_domin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508760"/>
            <a:ext cx="621792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SLIDE 03 • REVIEW 3 &amp; Q2 JOURNAL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The 'Synthetic Benchmark Illusion' vs. Real Network Traffic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Why the senior's 94.3% claim collapsed the moment real packets were introduced.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4297680" cy="4892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3931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The Senior's Claim: </a:t>
            </a:r>
            <a:r>
              <a:rPr b="0" sz="1150">
                <a:solidFill>
                  <a:srgbClr val="334155"/>
                </a:solidFill>
              </a:rPr>
              <a:t>Senior reported 94.33% accuracy. However, this was tested strictly on synthetic Gaussian clusters where classes were artificially separated.</a:t>
            </a:r>
          </a:p>
          <a:p>
            <a:pPr>
              <a:spcBef>
                <a:spcPts val="1200"/>
              </a:spcBef>
              <a:defRPr sz="1200" b="1">
                <a:solidFill>
                  <a:srgbClr val="0F172A"/>
                </a:solidFill>
              </a:defRPr>
            </a:pPr>
            <a:r>
              <a:t>The Real PCAP Reality: </a:t>
            </a:r>
            <a:r>
              <a:rPr b="0" sz="1150">
                <a:solidFill>
                  <a:srgbClr val="334155"/>
                </a:solidFill>
              </a:rPr>
              <a:t>When evaluated on real PCAP captures, MOPSO dropped by 31.4% on malware (USTC), and collapsed by 56.5% on encrypted traffic (ISCX, 37.87%).</a:t>
            </a:r>
          </a:p>
          <a:p>
            <a:pPr>
              <a:spcBef>
                <a:spcPts val="1200"/>
              </a:spcBef>
              <a:defRPr sz="1200" b="1">
                <a:solidFill>
                  <a:srgbClr val="0F172A"/>
                </a:solidFill>
              </a:defRPr>
            </a:pPr>
            <a:r>
              <a:t>Capacity Bottleneck: </a:t>
            </a:r>
            <a:r>
              <a:rPr b="0" sz="1150">
                <a:solidFill>
                  <a:srgbClr val="334155"/>
                </a:solidFill>
              </a:rPr>
              <a:t>Real encrypted flows have complex, non-linear timing distributions. A tiny 325-parameter network simply lacks the representational capacity to separate them.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349240"/>
            <a:ext cx="3931920" cy="8686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413248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D4ED8"/>
                </a:solidFill>
              </a:defRPr>
            </a:pPr>
            <a:r>
              <a:t>TAKEAWAY: </a:t>
            </a:r>
            <a:r>
              <a:rPr b="0" sz="1000">
                <a:solidFill>
                  <a:srgbClr val="1E3A8A"/>
                </a:solidFill>
              </a:rPr>
              <a:t>Synthetic Gaussian clusters create a false sense of success. Real encrypted packets reveal true model capacity limits.</a:t>
            </a:r>
          </a:p>
        </p:txBody>
      </p:sp>
      <p:pic>
        <p:nvPicPr>
          <p:cNvPr id="10" name="Picture 9" descr="02_synthetic_illusion_vs_real_pc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508760"/>
            <a:ext cx="621792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SLIDE 04 • REVIEW 3 &amp; Q2 JOURNAL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SOTA Traffic Classifiers vs. SDWN Edge Hardware 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Balancing multi-million parameter accuracy against switch TCAM/SRAM constraints.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4297680" cy="4892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3931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The Giant Models: </a:t>
            </a:r>
            <a:r>
              <a:rPr b="0" sz="1150">
                <a:solidFill>
                  <a:srgbClr val="334155"/>
                </a:solidFill>
              </a:rPr>
              <a:t>Published SOTA models like ET-BERT (50M params) and YaTC (30M params) achieve 97%+ accuracy, but require server-grade GPUs.</a:t>
            </a:r>
          </a:p>
          <a:p>
            <a:pPr>
              <a:spcBef>
                <a:spcPts val="1200"/>
              </a:spcBef>
              <a:defRPr sz="1200" b="1">
                <a:solidFill>
                  <a:srgbClr val="0F172A"/>
                </a:solidFill>
              </a:defRPr>
            </a:pPr>
            <a:r>
              <a:t>The Switch Bottleneck: </a:t>
            </a:r>
            <a:r>
              <a:rPr b="0" sz="1150">
                <a:solidFill>
                  <a:srgbClr val="334155"/>
                </a:solidFill>
              </a:rPr>
              <a:t>SDWN edge switches have strict TCAM and SRAM memory limits. They cannot store or execute models exceeding roughly 10,000 parameters.</a:t>
            </a:r>
          </a:p>
          <a:p>
            <a:pPr>
              <a:spcBef>
                <a:spcPts val="1200"/>
              </a:spcBef>
              <a:defRPr sz="1200" b="1">
                <a:solidFill>
                  <a:srgbClr val="0F172A"/>
                </a:solidFill>
              </a:defRPr>
            </a:pPr>
            <a:r>
              <a:t>The Practical Sweet Spot: </a:t>
            </a:r>
            <a:r>
              <a:rPr b="0" sz="1150">
                <a:solidFill>
                  <a:srgbClr val="334155"/>
                </a:solidFill>
              </a:rPr>
              <a:t>MOPSO easily fits the switch (325 params) but loses too much accuracy. A compact 1D-CNN (~2,300 params) hits the practical sweet spot: fits edge memory and reaches 77.6% accuracy.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349240"/>
            <a:ext cx="3931920" cy="8686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413248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D4ED8"/>
                </a:solidFill>
              </a:defRPr>
            </a:pPr>
            <a:r>
              <a:t>TAKEAWAY: </a:t>
            </a:r>
            <a:r>
              <a:rPr b="0" sz="1000">
                <a:solidFill>
                  <a:srgbClr val="1E3A8A"/>
                </a:solidFill>
              </a:rPr>
              <a:t>ET-BERT cannot run at line rate on an edge switch. A 2,300-parameter 1D-CNN is the true sweet spot for edge intelligence.</a:t>
            </a:r>
          </a:p>
        </p:txBody>
      </p:sp>
      <p:pic>
        <p:nvPicPr>
          <p:cNvPr id="10" name="Picture 9" descr="03_sota_benchmarks_and_edge_constrai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508760"/>
            <a:ext cx="621792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SLIDE 05 • REVIEW 3 &amp; Q2 JOURNAL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Fixing Temporal Leakage: Time-Blocked Cross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Standard random CV leaks session patterns; time-blocked CV sets an honest benchmark.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4297680" cy="4892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3931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The Leakage Flaw: </a:t>
            </a:r>
            <a:r>
              <a:rPr b="0" sz="1150">
                <a:solidFill>
                  <a:srgbClr val="334155"/>
                </a:solidFill>
              </a:rPr>
              <a:t>Standard random 10-fold CV randomly shuffles flows. Packets from the same user session or attack appear in both train and test folds, artificially inflating accuracy.</a:t>
            </a:r>
          </a:p>
          <a:p>
            <a:pPr>
              <a:spcBef>
                <a:spcPts val="1200"/>
              </a:spcBef>
              <a:defRPr sz="1200" b="1">
                <a:solidFill>
                  <a:srgbClr val="0F172A"/>
                </a:solidFill>
              </a:defRPr>
            </a:pPr>
            <a:r>
              <a:t>Our Chronological Fix: </a:t>
            </a:r>
            <a:r>
              <a:rPr b="0" sz="1150">
                <a:solidFill>
                  <a:srgbClr val="334155"/>
                </a:solidFill>
              </a:rPr>
              <a:t>We sorted 3,000 flows by timestamp into 10 contiguous chronological blocks. Models were trained on past flows and tested strictly on future flows.</a:t>
            </a:r>
          </a:p>
          <a:p>
            <a:pPr>
              <a:spcBef>
                <a:spcPts val="1200"/>
              </a:spcBef>
              <a:defRPr sz="1200" b="1">
                <a:solidFill>
                  <a:srgbClr val="0F172A"/>
                </a:solidFill>
              </a:defRPr>
            </a:pPr>
            <a:r>
              <a:t>The Verified Result: </a:t>
            </a:r>
            <a:r>
              <a:rPr b="0" sz="1150">
                <a:solidFill>
                  <a:srgbClr val="334155"/>
                </a:solidFill>
              </a:rPr>
              <a:t>Accuracy dropped by 6% to 8% across all models once leakage was removed. Even with zero leakage, deep learning still beats MOPSO by +15%, confirming our negative result is solid.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349240"/>
            <a:ext cx="3931920" cy="8686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413248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D4ED8"/>
                </a:solidFill>
              </a:defRPr>
            </a:pPr>
            <a:r>
              <a:t>TAKEAWAY: </a:t>
            </a:r>
            <a:r>
              <a:rPr b="0" sz="1000">
                <a:solidFill>
                  <a:srgbClr val="1E3A8A"/>
                </a:solidFill>
              </a:rPr>
              <a:t>Time-blocked CV removes session autocorrelation leakage. Deep learning still dominates MOPSO by +15% to +19%.</a:t>
            </a:r>
          </a:p>
        </p:txBody>
      </p:sp>
      <p:pic>
        <p:nvPicPr>
          <p:cNvPr id="10" name="Picture 9" descr="04_temporal_leakage_random_vs_time_blocked_c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508760"/>
            <a:ext cx="621792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SLIDE 06 • REVIEW 3 &amp; Q2 JOURNAL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Feature Fragility: TTL is a Topology Artifact, Not a Signature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Realistic network jitter exposes why static benchmark rankings cannot be trusted.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4297680" cy="4892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3931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The False Assumption: </a:t>
            </a:r>
            <a:r>
              <a:rPr b="0" sz="1150">
                <a:solidFill>
                  <a:srgbClr val="334155"/>
                </a:solidFill>
              </a:rPr>
              <a:t>Senior and prior papers ranked Time-To-Live (TTL) as their #1 most important classification feature.</a:t>
            </a:r>
          </a:p>
          <a:p>
            <a:pPr>
              <a:spcBef>
                <a:spcPts val="1200"/>
              </a:spcBef>
              <a:defRPr sz="1200" b="1">
                <a:solidFill>
                  <a:srgbClr val="0F172A"/>
                </a:solidFill>
              </a:defRPr>
            </a:pPr>
            <a:r>
              <a:t>The Stress Test: </a:t>
            </a:r>
            <a:r>
              <a:rPr b="0" sz="1150">
                <a:solidFill>
                  <a:srgbClr val="334155"/>
                </a:solidFill>
              </a:rPr>
              <a:t>We injected realistic network jitter into TTL values (simulating packet rerouting, multi-path forwarding, and NAT changes).</a:t>
            </a:r>
          </a:p>
          <a:p>
            <a:pPr>
              <a:spcBef>
                <a:spcPts val="1200"/>
              </a:spcBef>
              <a:defRPr sz="1200" b="1">
                <a:solidFill>
                  <a:srgbClr val="0F172A"/>
                </a:solidFill>
              </a:defRPr>
            </a:pPr>
            <a:r>
              <a:t>Catastrophic Drop: </a:t>
            </a:r>
            <a:r>
              <a:rPr b="0" sz="1150">
                <a:solidFill>
                  <a:srgbClr val="334155"/>
                </a:solidFill>
              </a:rPr>
              <a:t>Under realistic TTL noise, FFNN accuracy collapsed from 78.7% down to 48.2% (a 30.5% collapse). TTL measures router hops, not application behavior.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349240"/>
            <a:ext cx="3931920" cy="8686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413248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D4ED8"/>
                </a:solidFill>
              </a:defRPr>
            </a:pPr>
            <a:r>
              <a:t>TAKEAWAY: </a:t>
            </a:r>
            <a:r>
              <a:rPr b="0" sz="1000">
                <a:solidFill>
                  <a:srgbClr val="1E3A8A"/>
                </a:solidFill>
              </a:rPr>
              <a:t>Corrupting TTL degrades accuracy by 30.5%. Classifiers deployed in dynamic SDWN switches must not rely on TTL.</a:t>
            </a:r>
          </a:p>
        </p:txBody>
      </p:sp>
      <p:pic>
        <p:nvPicPr>
          <p:cNvPr id="10" name="Picture 9" descr="05_ttl_perturbation_frag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508760"/>
            <a:ext cx="621792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SLIDE 07 • REVIEW 3 &amp; Q2 JOURNAL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Destination Port is Obsolete; Timing Burstiness is 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Port 443 HTTPS multiplexing breaks legacy features; IAT moments provide true signal.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4297680" cy="4892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3931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Port 443 Multiplexing: </a:t>
            </a:r>
            <a:r>
              <a:rPr b="0" sz="1150">
                <a:solidFill>
                  <a:srgbClr val="334155"/>
                </a:solidFill>
              </a:rPr>
              <a:t>Legacy networks used port numbers to identify apps. Today, web, VPN, and malware all tunnel through port 443. Removing dst_port changed performance by virtually zero.</a:t>
            </a:r>
          </a:p>
          <a:p>
            <a:pPr>
              <a:spcBef>
                <a:spcPts val="1200"/>
              </a:spcBef>
              <a:defRPr sz="1200" b="1">
                <a:solidFill>
                  <a:srgbClr val="0F172A"/>
                </a:solidFill>
              </a:defRPr>
            </a:pPr>
            <a:r>
              <a:t>Higher-Order IAT Moments: </a:t>
            </a:r>
            <a:r>
              <a:rPr b="0" sz="1150">
                <a:solidFill>
                  <a:srgbClr val="334155"/>
                </a:solidFill>
              </a:rPr>
              <a:t>We extracted higher-order statistical moments: IAT Skewness (10.6% drop on permutation) and IAT Variance (6.3% drop).</a:t>
            </a:r>
          </a:p>
          <a:p>
            <a:pPr>
              <a:spcBef>
                <a:spcPts val="1200"/>
              </a:spcBef>
              <a:defRPr sz="1200" b="1">
                <a:solidFill>
                  <a:srgbClr val="0F172A"/>
                </a:solidFill>
              </a:defRPr>
            </a:pPr>
            <a:r>
              <a:t>Unhideable Fingerprint: </a:t>
            </a:r>
            <a:r>
              <a:rPr b="0" sz="1150">
                <a:solidFill>
                  <a:srgbClr val="334155"/>
                </a:solidFill>
              </a:rPr>
              <a:t>Encryption hides packet payloads, but it cannot hide packet delivery burstiness—how packets clump together over 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349240"/>
            <a:ext cx="3931920" cy="8686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413248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D4ED8"/>
                </a:solidFill>
              </a:defRPr>
            </a:pPr>
            <a:r>
              <a:t>TAKEAWAY: </a:t>
            </a:r>
            <a:r>
              <a:rPr b="0" sz="1000">
                <a:solidFill>
                  <a:srgbClr val="1E3A8A"/>
                </a:solidFill>
              </a:rPr>
              <a:t>dst_port has zero utility under port 443 tunneling. IAT Skewness and Variance capture real encrypted burstiness.</a:t>
            </a:r>
          </a:p>
        </p:txBody>
      </p:sp>
      <p:pic>
        <p:nvPicPr>
          <p:cNvPr id="10" name="Picture 9" descr="06_feature_importance_and_iat_mo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508760"/>
            <a:ext cx="621792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SLIDE 08 • REVIEW 3 &amp; Q2 JOURNAL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Why 8 Features? The Saturation Curve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Justifying our compact feature set against switch TCAM memory overhead.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4297680" cy="4892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3931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The Experiment: </a:t>
            </a:r>
            <a:r>
              <a:rPr b="0" sz="1150">
                <a:solidFill>
                  <a:srgbClr val="334155"/>
                </a:solidFill>
              </a:rPr>
              <a:t>We evaluated models incrementally, starting from 1 feature up to all 8 features, to test for diminishing returns.</a:t>
            </a:r>
          </a:p>
          <a:p>
            <a:pPr>
              <a:spcBef>
                <a:spcPts val="1200"/>
              </a:spcBef>
              <a:defRPr sz="1200" b="1">
                <a:solidFill>
                  <a:srgbClr val="0F172A"/>
                </a:solidFill>
              </a:defRPr>
            </a:pPr>
            <a:r>
              <a:t>Accuracy Plateau: </a:t>
            </a:r>
            <a:r>
              <a:rPr b="0" sz="1150">
                <a:solidFill>
                  <a:srgbClr val="334155"/>
                </a:solidFill>
              </a:rPr>
              <a:t>Accuracy rises from 35.3% (1 feature) to 41.0% (5 features), and completely plateaus between 5 and 8 features (42.7%).</a:t>
            </a:r>
          </a:p>
          <a:p>
            <a:pPr>
              <a:spcBef>
                <a:spcPts val="1200"/>
              </a:spcBef>
              <a:defRPr sz="1200" b="1">
                <a:solidFill>
                  <a:srgbClr val="0F172A"/>
                </a:solidFill>
              </a:defRPr>
            </a:pPr>
            <a:r>
              <a:t>Hardware Memory Cost: </a:t>
            </a:r>
            <a:r>
              <a:rPr b="0" sz="1150">
                <a:solidFill>
                  <a:srgbClr val="334155"/>
                </a:solidFill>
              </a:rPr>
              <a:t>Every additional feature increases neural network weights linearly (213 to 325 parameters). Adding features beyond 8 wastes switch memory for zero gain.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349240"/>
            <a:ext cx="3931920" cy="8686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413248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D4ED8"/>
                </a:solidFill>
              </a:defRPr>
            </a:pPr>
            <a:r>
              <a:t>TAKEAWAY: </a:t>
            </a:r>
            <a:r>
              <a:rPr b="0" sz="1000">
                <a:solidFill>
                  <a:srgbClr val="1E3A8A"/>
                </a:solidFill>
              </a:rPr>
              <a:t>Accuracy plateaus after 5 features. 8 features captures maximum signal without wasting switch flow table memory.</a:t>
            </a:r>
          </a:p>
        </p:txBody>
      </p:sp>
      <p:pic>
        <p:nvPicPr>
          <p:cNvPr id="10" name="Picture 9" descr="07_diminishing_returns_feature_satu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508760"/>
            <a:ext cx="621792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SLIDE 09 • REVIEW 3 &amp; Q2 JOURNAL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Swarm Stability Does Not Imply Classifier Accuracy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Reframing Lemmas 1 &amp; 2: Proving the swarm converges, but into a sub-optimal basin.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4297680" cy="48920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3931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t>The Proofs are Valid: </a:t>
            </a:r>
            <a:r>
              <a:rPr b="0" sz="1150">
                <a:solidFill>
                  <a:srgbClr val="334155"/>
                </a:solidFill>
              </a:rPr>
              <a:t>We re-derived the mathematical proofs for Lemmas 1 &amp; 2. The swarm spectral radius is 0.8543 &lt; 1.0, proving particle velocities and positions converge stably.</a:t>
            </a:r>
          </a:p>
          <a:p>
            <a:pPr>
              <a:spcBef>
                <a:spcPts val="1200"/>
              </a:spcBef>
              <a:defRPr sz="1200" b="1">
                <a:solidFill>
                  <a:srgbClr val="0F172A"/>
                </a:solidFill>
              </a:defRPr>
            </a:pPr>
            <a:r>
              <a:t>The Conceptual Trap: </a:t>
            </a:r>
            <a:r>
              <a:rPr b="0" sz="1150">
                <a:solidFill>
                  <a:srgbClr val="334155"/>
                </a:solidFill>
              </a:rPr>
              <a:t>Prior work claimed mathematical stability proved the classifier was effective. But stability only proves particles stop moving—not that the solution is accurate!</a:t>
            </a:r>
          </a:p>
          <a:p>
            <a:pPr>
              <a:spcBef>
                <a:spcPts val="1200"/>
              </a:spcBef>
              <a:defRPr sz="1200" b="1">
                <a:solidFill>
                  <a:srgbClr val="0F172A"/>
                </a:solidFill>
              </a:defRPr>
            </a:pPr>
            <a:r>
              <a:t>The Local Minima Trap: </a:t>
            </a:r>
            <a:r>
              <a:rPr b="0" sz="1150">
                <a:solidFill>
                  <a:srgbClr val="334155"/>
                </a:solidFill>
              </a:rPr>
              <a:t>As shown on the right, the swarm stably contracts into a sub-optimal basin of attraction (trapped at 37.8%), because 325 parameters is too small.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349240"/>
            <a:ext cx="3931920" cy="8686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413248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D4ED8"/>
                </a:solidFill>
              </a:defRPr>
            </a:pPr>
            <a:r>
              <a:t>TAKEAWAY: </a:t>
            </a:r>
            <a:r>
              <a:rPr b="0" sz="1000">
                <a:solidFill>
                  <a:srgbClr val="1E3A8A"/>
                </a:solidFill>
              </a:rPr>
              <a:t>Mathematical swarm stability (ρ = 0.8543 &lt; 1.0) is proven, but numerical stability cannot overcome capacity limits.</a:t>
            </a:r>
          </a:p>
        </p:txBody>
      </p:sp>
      <p:pic>
        <p:nvPicPr>
          <p:cNvPr id="10" name="Picture 9" descr="08_swarm_stability_vs_classifier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508760"/>
            <a:ext cx="621792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2563EB"/>
                </a:solidFill>
              </a:defRPr>
            </a:pPr>
            <a:r>
              <a:t>SLIDE 10 • REVIEW 3 &amp; Q2 JOURNAL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Summary of Review 3 &amp; Q2 Submission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48B"/>
                </a:solidFill>
              </a:defRPr>
            </a:pPr>
            <a:r>
              <a:t>Everything packaged, verified, and reproducible.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728655" cy="13716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25780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8920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1. Full Research Manuscript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• Written for Q2 Journal standards (IEEE/ACM Transactions format).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• Available in Word (.docx) and LaTeX (.tex) with 17 tables and 12 figures.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• Scrubbed of false trade-off claims; fully reframed as an empirical negative result.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508760"/>
            <a:ext cx="525780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645920"/>
            <a:ext cx="48920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2. Leakage-Free Codebase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• Built Scapy PCAP streaming pipeline (6,000 balanced real flows).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• Time-Blocked CV and Feature Robustness suites fully reproducible.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• Zero data leakage: StandardScaler fit strictly on training splits.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77639"/>
            <a:ext cx="525780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114799"/>
            <a:ext cx="48920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3. Automated Test Suite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• 16 passing unit tests across 5 test suites (pytest).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• Verifies mathematical formulas, non-leakage scaling, DL models, and time-blocked splits in 3.3 seconds (100% pass rate).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977639"/>
            <a:ext cx="5257800" cy="2240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4114799"/>
            <a:ext cx="48920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4. Containerization &amp; Archive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• Production-ready Dockerfile for one-click environment replication.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• Clean GitHub repository: https://github.com/rikkumahan/CN_research.git</a:t>
            </a:r>
          </a:p>
          <a:p>
            <a:pPr>
              <a:spcBef>
                <a:spcPts val="400"/>
              </a:spcBef>
              <a:defRPr sz="1100">
                <a:solidFill>
                  <a:srgbClr val="334155"/>
                </a:solidFill>
              </a:defRPr>
            </a:pPr>
            <a:r>
              <a:t>• Prepared for Zenodo DOI archiving upon paper submission.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